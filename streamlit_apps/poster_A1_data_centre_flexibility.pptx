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21383625" cy="3027521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32" d="100"/>
          <a:sy n="32" d="100"/>
        </p:scale>
        <p:origin x="1446" y="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FA6DB-4C82-80D3-C043-42E73142D0A1}"/>
              </a:ext>
            </a:extLst>
          </p:cNvPr>
          <p:cNvSpPr>
            <a:spLocks noGrp="1"/>
          </p:cNvSpPr>
          <p:nvPr>
            <p:ph type="ctrTitle"/>
          </p:nvPr>
        </p:nvSpPr>
        <p:spPr>
          <a:xfrm>
            <a:off x="2672954" y="4954765"/>
            <a:ext cx="16037719" cy="10540259"/>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7A74C8E3-29BC-3091-99F4-D4E83B6ABDC1}"/>
              </a:ext>
            </a:extLst>
          </p:cNvPr>
          <p:cNvSpPr>
            <a:spLocks noGrp="1"/>
          </p:cNvSpPr>
          <p:nvPr>
            <p:ph type="subTitle" idx="1"/>
          </p:nvPr>
        </p:nvSpPr>
        <p:spPr>
          <a:xfrm>
            <a:off x="2672954" y="15901497"/>
            <a:ext cx="16037719" cy="730949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B59A853B-F24A-D70F-044D-F9BC8A9AAFDF}"/>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4EA1203C-B86E-727C-911B-1AFDF63EDCA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2605C0D-6984-8466-8D2F-F0789AE2B9DA}"/>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2205995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FE0FB7-81F4-4F47-C402-06E623906FF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27EDF578-30FC-FA4D-8392-DC32EF5DFB7B}"/>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82A83AD-D16F-9493-C537-069F180286AB}"/>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CBABD2DD-5D11-6ADE-CE18-1331FD45CAD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3B85E15-291B-669F-C739-53D8548769D7}"/>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23070068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F70B0-DD2B-C753-CFE3-6E396A194BEB}"/>
              </a:ext>
            </a:extLst>
          </p:cNvPr>
          <p:cNvSpPr>
            <a:spLocks noGrp="1"/>
          </p:cNvSpPr>
          <p:nvPr>
            <p:ph type="title"/>
          </p:nvPr>
        </p:nvSpPr>
        <p:spPr>
          <a:xfrm>
            <a:off x="1458988" y="7547788"/>
            <a:ext cx="18443377" cy="12593645"/>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34C91B59-E747-96DA-C5C8-55D777D51AA5}"/>
              </a:ext>
            </a:extLst>
          </p:cNvPr>
          <p:cNvSpPr>
            <a:spLocks noGrp="1"/>
          </p:cNvSpPr>
          <p:nvPr>
            <p:ph type="body" idx="1"/>
          </p:nvPr>
        </p:nvSpPr>
        <p:spPr>
          <a:xfrm>
            <a:off x="1458988" y="20260574"/>
            <a:ext cx="18443377" cy="6622701"/>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148F123-F5DF-64B5-4600-BDBC319A9C97}"/>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022950BC-D40A-7514-BF35-194A6493435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64B43B0-17E6-5AC0-B513-00384E6FFC83}"/>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1752336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7FF942-29E3-BFAC-E16D-E68F51DE1889}"/>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8C3CA3D2-9FE9-8B1D-2919-31FEDAB20F2A}"/>
              </a:ext>
            </a:extLst>
          </p:cNvPr>
          <p:cNvSpPr>
            <a:spLocks noGrp="1"/>
          </p:cNvSpPr>
          <p:nvPr>
            <p:ph sz="half" idx="1"/>
          </p:nvPr>
        </p:nvSpPr>
        <p:spPr>
          <a:xfrm>
            <a:off x="1470125"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C3021D0-2F62-7900-4952-FBC529AD435C}"/>
              </a:ext>
            </a:extLst>
          </p:cNvPr>
          <p:cNvSpPr>
            <a:spLocks noGrp="1"/>
          </p:cNvSpPr>
          <p:nvPr>
            <p:ph sz="half" idx="2"/>
          </p:nvPr>
        </p:nvSpPr>
        <p:spPr>
          <a:xfrm>
            <a:off x="10825461" y="8059374"/>
            <a:ext cx="9088041" cy="1920934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70A8B377-E4B3-214A-D86C-3CCBF65B92F1}"/>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6" name="Footer Placeholder 5">
            <a:extLst>
              <a:ext uri="{FF2B5EF4-FFF2-40B4-BE49-F238E27FC236}">
                <a16:creationId xmlns:a16="http://schemas.microsoft.com/office/drawing/2014/main" id="{7880DA2F-6BB8-43E5-05B8-8F1F1BC0730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A5B6C27-21B1-72F4-1EEE-79BDFC94D8E9}"/>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34601536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E2C2AE-14BA-58E5-B8A7-918E77B89FD8}"/>
              </a:ext>
            </a:extLst>
          </p:cNvPr>
          <p:cNvSpPr>
            <a:spLocks noGrp="1"/>
          </p:cNvSpPr>
          <p:nvPr>
            <p:ph type="title"/>
          </p:nvPr>
        </p:nvSpPr>
        <p:spPr>
          <a:xfrm>
            <a:off x="1472910" y="1611882"/>
            <a:ext cx="18443377" cy="5851808"/>
          </a:xfrm>
        </p:spPr>
        <p:txBody>
          <a:bodyPr/>
          <a:lstStyle/>
          <a:p>
            <a:r>
              <a:rPr lang="en-GB"/>
              <a:t>Click to edit Master title style</a:t>
            </a:r>
          </a:p>
        </p:txBody>
      </p:sp>
      <p:sp>
        <p:nvSpPr>
          <p:cNvPr id="3" name="Text Placeholder 2">
            <a:extLst>
              <a:ext uri="{FF2B5EF4-FFF2-40B4-BE49-F238E27FC236}">
                <a16:creationId xmlns:a16="http://schemas.microsoft.com/office/drawing/2014/main" id="{2C1D6844-C815-F0B8-5755-60F960DE48D6}"/>
              </a:ext>
            </a:extLst>
          </p:cNvPr>
          <p:cNvSpPr>
            <a:spLocks noGrp="1"/>
          </p:cNvSpPr>
          <p:nvPr>
            <p:ph type="body" idx="1"/>
          </p:nvPr>
        </p:nvSpPr>
        <p:spPr>
          <a:xfrm>
            <a:off x="1472911" y="7421634"/>
            <a:ext cx="9046275" cy="36372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AB0435D-B761-7F76-AB0F-31479E1681DF}"/>
              </a:ext>
            </a:extLst>
          </p:cNvPr>
          <p:cNvSpPr>
            <a:spLocks noGrp="1"/>
          </p:cNvSpPr>
          <p:nvPr>
            <p:ph sz="half" idx="2"/>
          </p:nvPr>
        </p:nvSpPr>
        <p:spPr>
          <a:xfrm>
            <a:off x="1472911" y="11058863"/>
            <a:ext cx="9046275"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B26972A0-3D83-7589-073C-F9C5A65CBEBC}"/>
              </a:ext>
            </a:extLst>
          </p:cNvPr>
          <p:cNvSpPr>
            <a:spLocks noGrp="1"/>
          </p:cNvSpPr>
          <p:nvPr>
            <p:ph type="body" sz="quarter" idx="3"/>
          </p:nvPr>
        </p:nvSpPr>
        <p:spPr>
          <a:xfrm>
            <a:off x="10825460" y="7421634"/>
            <a:ext cx="9090826" cy="363722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0DBC6C-9095-1897-315C-F2329CFE238C}"/>
              </a:ext>
            </a:extLst>
          </p:cNvPr>
          <p:cNvSpPr>
            <a:spLocks noGrp="1"/>
          </p:cNvSpPr>
          <p:nvPr>
            <p:ph sz="quarter" idx="4"/>
          </p:nvPr>
        </p:nvSpPr>
        <p:spPr>
          <a:xfrm>
            <a:off x="10825460" y="11058863"/>
            <a:ext cx="9090826" cy="16265921"/>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F6D9E86-841A-F7CC-C105-2D8A167EA8C1}"/>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8" name="Footer Placeholder 7">
            <a:extLst>
              <a:ext uri="{FF2B5EF4-FFF2-40B4-BE49-F238E27FC236}">
                <a16:creationId xmlns:a16="http://schemas.microsoft.com/office/drawing/2014/main" id="{CD0B2829-7BEC-3D24-27E4-2F449919613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6A91092-A697-B5C3-5E00-8D24587203AD}"/>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26828612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327BB-5E19-966F-C9E2-87169A5BA6A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C5944A3-DB6B-E6B7-37FA-29044E72ACFD}"/>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4" name="Footer Placeholder 3">
            <a:extLst>
              <a:ext uri="{FF2B5EF4-FFF2-40B4-BE49-F238E27FC236}">
                <a16:creationId xmlns:a16="http://schemas.microsoft.com/office/drawing/2014/main" id="{75B2C156-9C05-688E-31E5-71AE2878021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F93C3E00-7EF4-068A-0854-CE7F511A35D0}"/>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21716588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2EDCB-6506-5145-DF69-95AD42AAD9C7}"/>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3" name="Footer Placeholder 2">
            <a:extLst>
              <a:ext uri="{FF2B5EF4-FFF2-40B4-BE49-F238E27FC236}">
                <a16:creationId xmlns:a16="http://schemas.microsoft.com/office/drawing/2014/main" id="{3483F8A5-4181-46B5-9DE8-1334D42AD3B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5F536B5-D23E-4EB6-85B9-1F013343E749}"/>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19759611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2675A-214D-54F9-1D93-A51CD94FA3B2}"/>
              </a:ext>
            </a:extLst>
          </p:cNvPr>
          <p:cNvSpPr>
            <a:spLocks noGrp="1"/>
          </p:cNvSpPr>
          <p:nvPr>
            <p:ph type="title"/>
          </p:nvPr>
        </p:nvSpPr>
        <p:spPr>
          <a:xfrm>
            <a:off x="1472911" y="2018348"/>
            <a:ext cx="6896775" cy="7064216"/>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8276D3DB-4B52-933F-06BD-B05FE6029977}"/>
              </a:ext>
            </a:extLst>
          </p:cNvPr>
          <p:cNvSpPr>
            <a:spLocks noGrp="1"/>
          </p:cNvSpPr>
          <p:nvPr>
            <p:ph idx="1"/>
          </p:nvPr>
        </p:nvSpPr>
        <p:spPr>
          <a:xfrm>
            <a:off x="9090826" y="4359077"/>
            <a:ext cx="10825460" cy="215150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ECC63789-0957-65D4-E493-CBE4954EF0D3}"/>
              </a:ext>
            </a:extLst>
          </p:cNvPr>
          <p:cNvSpPr>
            <a:spLocks noGrp="1"/>
          </p:cNvSpPr>
          <p:nvPr>
            <p:ph type="body" sz="half" idx="2"/>
          </p:nvPr>
        </p:nvSpPr>
        <p:spPr>
          <a:xfrm>
            <a:off x="1472911" y="9082564"/>
            <a:ext cx="6896775" cy="16826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F31FB0F-A121-7C70-4FCB-2F448B82F355}"/>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6" name="Footer Placeholder 5">
            <a:extLst>
              <a:ext uri="{FF2B5EF4-FFF2-40B4-BE49-F238E27FC236}">
                <a16:creationId xmlns:a16="http://schemas.microsoft.com/office/drawing/2014/main" id="{DC35AA9E-5766-82E1-5E28-608D9B114FC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B377E19-7A7F-9277-6915-A3B9B92B93DD}"/>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1143037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C6E6B-5859-FB7E-CC83-F1DA7804FDEF}"/>
              </a:ext>
            </a:extLst>
          </p:cNvPr>
          <p:cNvSpPr>
            <a:spLocks noGrp="1"/>
          </p:cNvSpPr>
          <p:nvPr>
            <p:ph type="title"/>
          </p:nvPr>
        </p:nvSpPr>
        <p:spPr>
          <a:xfrm>
            <a:off x="1472911" y="2018348"/>
            <a:ext cx="6896775" cy="7064216"/>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02202F05-2E4D-7BFA-8413-2E371C9A7A72}"/>
              </a:ext>
            </a:extLst>
          </p:cNvPr>
          <p:cNvSpPr>
            <a:spLocks noGrp="1"/>
          </p:cNvSpPr>
          <p:nvPr>
            <p:ph type="pic" idx="1"/>
          </p:nvPr>
        </p:nvSpPr>
        <p:spPr>
          <a:xfrm>
            <a:off x="9090826" y="4359077"/>
            <a:ext cx="10825460" cy="2151502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BEAC03C-9F1C-94BE-B20F-BDCC998C216D}"/>
              </a:ext>
            </a:extLst>
          </p:cNvPr>
          <p:cNvSpPr>
            <a:spLocks noGrp="1"/>
          </p:cNvSpPr>
          <p:nvPr>
            <p:ph type="body" sz="half" idx="2"/>
          </p:nvPr>
        </p:nvSpPr>
        <p:spPr>
          <a:xfrm>
            <a:off x="1472911" y="9082564"/>
            <a:ext cx="6896775" cy="1682657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4AF4FA-5576-1107-153B-3858E4016E39}"/>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6" name="Footer Placeholder 5">
            <a:extLst>
              <a:ext uri="{FF2B5EF4-FFF2-40B4-BE49-F238E27FC236}">
                <a16:creationId xmlns:a16="http://schemas.microsoft.com/office/drawing/2014/main" id="{DEF8E3E3-EE4D-29D2-F8AF-FBAB96BED3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02BF131-E223-B898-19B7-607F945770C4}"/>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525795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2094C-557A-1A9E-2A65-49A69114D4F3}"/>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EF3D62DA-B31C-9766-6409-BA829416090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3A2447E-1BA1-039B-7EDC-99FB87166FC8}"/>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5C724670-5F63-3BC0-233D-6BE087669E8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602A5C-04E0-AE28-0DB2-6B94A1A666D1}"/>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2515407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8500CD7-02D9-906B-98FC-AF98973486DC}"/>
              </a:ext>
            </a:extLst>
          </p:cNvPr>
          <p:cNvSpPr>
            <a:spLocks noGrp="1"/>
          </p:cNvSpPr>
          <p:nvPr>
            <p:ph type="title" orient="vert"/>
          </p:nvPr>
        </p:nvSpPr>
        <p:spPr>
          <a:xfrm>
            <a:off x="15302657" y="1611875"/>
            <a:ext cx="4610844" cy="25656844"/>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E0FE1F07-30CE-9435-075B-65973D112826}"/>
              </a:ext>
            </a:extLst>
          </p:cNvPr>
          <p:cNvSpPr>
            <a:spLocks noGrp="1"/>
          </p:cNvSpPr>
          <p:nvPr>
            <p:ph type="body" orient="vert" idx="1"/>
          </p:nvPr>
        </p:nvSpPr>
        <p:spPr>
          <a:xfrm>
            <a:off x="1470125" y="1611875"/>
            <a:ext cx="13565237" cy="2565684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83848CA-91E6-4FFE-49AD-B24AD92BFC3B}"/>
              </a:ext>
            </a:extLst>
          </p:cNvPr>
          <p:cNvSpPr>
            <a:spLocks noGrp="1"/>
          </p:cNvSpPr>
          <p:nvPr>
            <p:ph type="dt" sz="half" idx="10"/>
          </p:nvPr>
        </p:nvSpPr>
        <p:spPr/>
        <p:txBody>
          <a:body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FFA5EF57-C6DF-F14D-0B3E-63B876FFEC4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447A49A-2F99-36E5-A0D7-26EA260AEFBC}"/>
              </a:ext>
            </a:extLst>
          </p:cNvPr>
          <p:cNvSpPr>
            <a:spLocks noGrp="1"/>
          </p:cNvSpPr>
          <p:nvPr>
            <p:ph type="sldNum" sz="quarter" idx="12"/>
          </p:nvPr>
        </p:nvSpPr>
        <p:spPr/>
        <p:txBody>
          <a:bodyPr/>
          <a:lstStyle/>
          <a:p>
            <a:fld id="{FFA735D3-C921-4B1D-B7BD-501153D8D7F2}" type="slidenum">
              <a:rPr lang="en-GB" smtClean="0"/>
              <a:t>‹#›</a:t>
            </a:fld>
            <a:endParaRPr lang="en-GB"/>
          </a:p>
        </p:txBody>
      </p:sp>
    </p:spTree>
    <p:extLst>
      <p:ext uri="{BB962C8B-B14F-4D97-AF65-F5344CB8AC3E}">
        <p14:creationId xmlns:p14="http://schemas.microsoft.com/office/powerpoint/2010/main" val="31096217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BBBAF5-495A-78EC-6213-EE984DDD796C}"/>
              </a:ext>
            </a:extLst>
          </p:cNvPr>
          <p:cNvSpPr>
            <a:spLocks noGrp="1"/>
          </p:cNvSpPr>
          <p:nvPr>
            <p:ph type="title"/>
          </p:nvPr>
        </p:nvSpPr>
        <p:spPr>
          <a:xfrm>
            <a:off x="1470125" y="1611882"/>
            <a:ext cx="18443377" cy="5851808"/>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E33A337-8B06-1CD9-2167-D71E595BFEF0}"/>
              </a:ext>
            </a:extLst>
          </p:cNvPr>
          <p:cNvSpPr>
            <a:spLocks noGrp="1"/>
          </p:cNvSpPr>
          <p:nvPr>
            <p:ph type="body" idx="1"/>
          </p:nvPr>
        </p:nvSpPr>
        <p:spPr>
          <a:xfrm>
            <a:off x="1470125" y="8059374"/>
            <a:ext cx="18443377" cy="1920934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B533C3BC-3879-31FB-0257-AE479557B757}"/>
              </a:ext>
            </a:extLst>
          </p:cNvPr>
          <p:cNvSpPr>
            <a:spLocks noGrp="1"/>
          </p:cNvSpPr>
          <p:nvPr>
            <p:ph type="dt" sz="half" idx="2"/>
          </p:nvPr>
        </p:nvSpPr>
        <p:spPr>
          <a:xfrm>
            <a:off x="1470124" y="28060644"/>
            <a:ext cx="4811316" cy="1611875"/>
          </a:xfrm>
          <a:prstGeom prst="rect">
            <a:avLst/>
          </a:prstGeom>
        </p:spPr>
        <p:txBody>
          <a:bodyPr vert="horz" lIns="91440" tIns="45720" rIns="91440" bIns="45720" rtlCol="0" anchor="ctr"/>
          <a:lstStyle>
            <a:lvl1pPr algn="l">
              <a:defRPr sz="1200">
                <a:solidFill>
                  <a:schemeClr val="tx1">
                    <a:tint val="82000"/>
                  </a:schemeClr>
                </a:solidFill>
              </a:defRPr>
            </a:lvl1pPr>
          </a:lstStyle>
          <a:p>
            <a:fld id="{2F0B5084-8D88-47FF-AD8C-FB9DC30B5ECC}" type="datetimeFigureOut">
              <a:rPr lang="en-GB" smtClean="0"/>
              <a:t>23/02/2026</a:t>
            </a:fld>
            <a:endParaRPr lang="en-GB"/>
          </a:p>
        </p:txBody>
      </p:sp>
      <p:sp>
        <p:nvSpPr>
          <p:cNvPr id="5" name="Footer Placeholder 4">
            <a:extLst>
              <a:ext uri="{FF2B5EF4-FFF2-40B4-BE49-F238E27FC236}">
                <a16:creationId xmlns:a16="http://schemas.microsoft.com/office/drawing/2014/main" id="{B24B809F-8F08-ACD4-D863-284AE72BB7F5}"/>
              </a:ext>
            </a:extLst>
          </p:cNvPr>
          <p:cNvSpPr>
            <a:spLocks noGrp="1"/>
          </p:cNvSpPr>
          <p:nvPr>
            <p:ph type="ftr" sz="quarter" idx="3"/>
          </p:nvPr>
        </p:nvSpPr>
        <p:spPr>
          <a:xfrm>
            <a:off x="7083327" y="28060644"/>
            <a:ext cx="7216973" cy="161187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D1A11B4B-90D1-303B-4A6B-D4AA9D8BFE70}"/>
              </a:ext>
            </a:extLst>
          </p:cNvPr>
          <p:cNvSpPr>
            <a:spLocks noGrp="1"/>
          </p:cNvSpPr>
          <p:nvPr>
            <p:ph type="sldNum" sz="quarter" idx="4"/>
          </p:nvPr>
        </p:nvSpPr>
        <p:spPr>
          <a:xfrm>
            <a:off x="15102185" y="28060644"/>
            <a:ext cx="4811316" cy="1611875"/>
          </a:xfrm>
          <a:prstGeom prst="rect">
            <a:avLst/>
          </a:prstGeom>
        </p:spPr>
        <p:txBody>
          <a:bodyPr vert="horz" lIns="91440" tIns="45720" rIns="91440" bIns="45720" rtlCol="0" anchor="ctr"/>
          <a:lstStyle>
            <a:lvl1pPr algn="r">
              <a:defRPr sz="1200">
                <a:solidFill>
                  <a:schemeClr val="tx1">
                    <a:tint val="82000"/>
                  </a:schemeClr>
                </a:solidFill>
              </a:defRPr>
            </a:lvl1pPr>
          </a:lstStyle>
          <a:p>
            <a:fld id="{FFA735D3-C921-4B1D-B7BD-501153D8D7F2}" type="slidenum">
              <a:rPr lang="en-GB" smtClean="0"/>
              <a:t>‹#›</a:t>
            </a:fld>
            <a:endParaRPr lang="en-GB"/>
          </a:p>
        </p:txBody>
      </p:sp>
    </p:spTree>
    <p:extLst>
      <p:ext uri="{BB962C8B-B14F-4D97-AF65-F5344CB8AC3E}">
        <p14:creationId xmlns:p14="http://schemas.microsoft.com/office/powerpoint/2010/main" val="28720408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12C3A757-0459-5552-755F-1C2276270242}"/>
              </a:ext>
            </a:extLst>
          </p:cNvPr>
          <p:cNvSpPr/>
          <p:nvPr/>
        </p:nvSpPr>
        <p:spPr>
          <a:xfrm>
            <a:off x="792000" y="19536034"/>
            <a:ext cx="3683000" cy="1371600"/>
          </a:xfrm>
          <a:prstGeom prst="rect">
            <a:avLst/>
          </a:prstGeom>
          <a:solidFill>
            <a:srgbClr val="FFFFFF"/>
          </a:solidFill>
          <a:ln w="25400">
            <a:solidFill>
              <a:srgbClr val="117A6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Rectangle 1">
            <a:extLst>
              <a:ext uri="{FF2B5EF4-FFF2-40B4-BE49-F238E27FC236}">
                <a16:creationId xmlns:a16="http://schemas.microsoft.com/office/drawing/2014/main" id="{26DA3D83-52E6-2418-6E64-AB86BD31E3B4}"/>
              </a:ext>
            </a:extLst>
          </p:cNvPr>
          <p:cNvSpPr/>
          <p:nvPr/>
        </p:nvSpPr>
        <p:spPr>
          <a:xfrm>
            <a:off x="88508" y="115332"/>
            <a:ext cx="21384000" cy="30276000"/>
          </a:xfrm>
          <a:prstGeom prst="rect">
            <a:avLst/>
          </a:prstGeom>
          <a:solidFill>
            <a:schemeClr val="accent1">
              <a:lumMod val="20000"/>
              <a:lumOff val="80000"/>
            </a:schemeClr>
          </a:solidFill>
          <a:ln w="0">
            <a:solidFill>
              <a:srgbClr val="F5F4E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AD66798D-2C82-22D3-FBD7-B5134271FCB2}"/>
              </a:ext>
            </a:extLst>
          </p:cNvPr>
          <p:cNvSpPr txBox="1"/>
          <p:nvPr/>
        </p:nvSpPr>
        <p:spPr>
          <a:xfrm>
            <a:off x="792000" y="817400"/>
            <a:ext cx="19800001" cy="369332"/>
          </a:xfrm>
          <a:prstGeom prst="rect">
            <a:avLst/>
          </a:prstGeom>
          <a:noFill/>
        </p:spPr>
        <p:txBody>
          <a:bodyPr vert="horz" wrap="square" lIns="25400" tIns="15240" rIns="25400" bIns="10160" rtlCol="0">
            <a:noAutofit/>
          </a:bodyPr>
          <a:lstStyle/>
          <a:p>
            <a:r>
              <a:rPr lang="en-GB" sz="6400" b="1" dirty="0">
                <a:solidFill>
                  <a:srgbClr val="102A43"/>
                </a:solidFill>
                <a:latin typeface="Montserrat" panose="00000500000000000000" pitchFamily="2" charset="0"/>
              </a:rPr>
              <a:t>Characterisation and Quantification of Data Centre Flexibility for Power System Support</a:t>
            </a:r>
          </a:p>
        </p:txBody>
      </p:sp>
      <p:sp>
        <p:nvSpPr>
          <p:cNvPr id="4" name="TextBox 3">
            <a:extLst>
              <a:ext uri="{FF2B5EF4-FFF2-40B4-BE49-F238E27FC236}">
                <a16:creationId xmlns:a16="http://schemas.microsoft.com/office/drawing/2014/main" id="{E3CCC498-C113-9C45-3D9F-349352E4615D}"/>
              </a:ext>
            </a:extLst>
          </p:cNvPr>
          <p:cNvSpPr txBox="1"/>
          <p:nvPr/>
        </p:nvSpPr>
        <p:spPr>
          <a:xfrm>
            <a:off x="911849" y="3016568"/>
            <a:ext cx="19698401" cy="668986"/>
          </a:xfrm>
          <a:prstGeom prst="rect">
            <a:avLst/>
          </a:prstGeom>
          <a:noFill/>
        </p:spPr>
        <p:txBody>
          <a:bodyPr vert="horz" wrap="square" lIns="12700" tIns="7620" rIns="12700" bIns="5080" rtlCol="0">
            <a:noAutofit/>
          </a:bodyPr>
          <a:lstStyle/>
          <a:p>
            <a:r>
              <a:rPr lang="en-GB" sz="2500" dirty="0">
                <a:solidFill>
                  <a:srgbClr val="6B7280"/>
                </a:solidFill>
                <a:latin typeface="Source Sans 3"/>
              </a:rPr>
              <a:t>Mehmet Turker Takci, James Day, Meysam Qadrdan | Cardiff University</a:t>
            </a:r>
          </a:p>
        </p:txBody>
      </p:sp>
      <p:sp>
        <p:nvSpPr>
          <p:cNvPr id="5" name="Rectangle 4">
            <a:extLst>
              <a:ext uri="{FF2B5EF4-FFF2-40B4-BE49-F238E27FC236}">
                <a16:creationId xmlns:a16="http://schemas.microsoft.com/office/drawing/2014/main" id="{2A418BA4-9364-9FC7-658A-2261DC98BE55}"/>
              </a:ext>
            </a:extLst>
          </p:cNvPr>
          <p:cNvSpPr/>
          <p:nvPr/>
        </p:nvSpPr>
        <p:spPr>
          <a:xfrm>
            <a:off x="810250" y="3741499"/>
            <a:ext cx="16727123" cy="978053"/>
          </a:xfrm>
          <a:prstGeom prst="rect">
            <a:avLst/>
          </a:prstGeom>
          <a:solidFill>
            <a:srgbClr val="FFFFFF">
              <a:alpha val="96000"/>
            </a:srgbClr>
          </a:solidFill>
          <a:ln w="17780">
            <a:solidFill>
              <a:srgbClr val="E8E4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extBox 5">
            <a:extLst>
              <a:ext uri="{FF2B5EF4-FFF2-40B4-BE49-F238E27FC236}">
                <a16:creationId xmlns:a16="http://schemas.microsoft.com/office/drawing/2014/main" id="{D3544BD8-595B-0BE1-A419-C9F89FB5BC75}"/>
              </a:ext>
            </a:extLst>
          </p:cNvPr>
          <p:cNvSpPr txBox="1"/>
          <p:nvPr/>
        </p:nvSpPr>
        <p:spPr>
          <a:xfrm>
            <a:off x="911849" y="3872654"/>
            <a:ext cx="19596801" cy="369332"/>
          </a:xfrm>
          <a:prstGeom prst="rect">
            <a:avLst/>
          </a:prstGeom>
          <a:noFill/>
        </p:spPr>
        <p:txBody>
          <a:bodyPr vert="horz" wrap="square" lIns="25400" tIns="15240" rIns="25400" bIns="10160" rtlCol="0">
            <a:noAutofit/>
          </a:bodyPr>
          <a:lstStyle/>
          <a:p>
            <a:r>
              <a:rPr lang="en-GB" sz="2400" b="1" dirty="0">
                <a:solidFill>
                  <a:srgbClr val="102A43"/>
                </a:solidFill>
                <a:latin typeface="Source Sans 3"/>
              </a:rPr>
              <a:t>Core takeaway: an integrated IT-UPS-cooling strategy can reduce operating cost and provide duration-certified flexibility</a:t>
            </a:r>
          </a:p>
          <a:p>
            <a:r>
              <a:rPr lang="en-GB" sz="2400" b="1" dirty="0">
                <a:solidFill>
                  <a:srgbClr val="102A43"/>
                </a:solidFill>
                <a:latin typeface="Source Sans 3"/>
              </a:rPr>
              <a:t> to the power system</a:t>
            </a:r>
            <a:endParaRPr lang="en-GB" sz="2400" dirty="0">
              <a:solidFill>
                <a:srgbClr val="102A43"/>
              </a:solidFill>
              <a:latin typeface="Source Sans 3"/>
            </a:endParaRPr>
          </a:p>
        </p:txBody>
      </p:sp>
      <p:sp>
        <p:nvSpPr>
          <p:cNvPr id="7" name="Rectangle 6">
            <a:extLst>
              <a:ext uri="{FF2B5EF4-FFF2-40B4-BE49-F238E27FC236}">
                <a16:creationId xmlns:a16="http://schemas.microsoft.com/office/drawing/2014/main" id="{9E074FE9-4963-D649-156E-9B19D99F84A6}"/>
              </a:ext>
            </a:extLst>
          </p:cNvPr>
          <p:cNvSpPr/>
          <p:nvPr/>
        </p:nvSpPr>
        <p:spPr>
          <a:xfrm>
            <a:off x="792000" y="5299000"/>
            <a:ext cx="9756000" cy="5626440"/>
          </a:xfrm>
          <a:prstGeom prst="rect">
            <a:avLst/>
          </a:prstGeom>
          <a:solidFill>
            <a:srgbClr val="FFFFFF"/>
          </a:solidFill>
          <a:ln w="19050">
            <a:solidFill>
              <a:srgbClr val="E8E4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9" name="Picture 8">
            <a:extLst>
              <a:ext uri="{FF2B5EF4-FFF2-40B4-BE49-F238E27FC236}">
                <a16:creationId xmlns:a16="http://schemas.microsoft.com/office/drawing/2014/main" id="{85BF5C42-B9B0-222E-AFC3-3D8A4FD93ADA}"/>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278141" y="5426000"/>
            <a:ext cx="6783718" cy="4940640"/>
          </a:xfrm>
          <a:prstGeom prst="rect">
            <a:avLst/>
          </a:prstGeom>
        </p:spPr>
      </p:pic>
      <p:sp>
        <p:nvSpPr>
          <p:cNvPr id="10" name="TextBox 9">
            <a:extLst>
              <a:ext uri="{FF2B5EF4-FFF2-40B4-BE49-F238E27FC236}">
                <a16:creationId xmlns:a16="http://schemas.microsoft.com/office/drawing/2014/main" id="{6B1BDE12-99B3-EE95-DEB4-7C860B558176}"/>
              </a:ext>
            </a:extLst>
          </p:cNvPr>
          <p:cNvSpPr txBox="1"/>
          <p:nvPr/>
        </p:nvSpPr>
        <p:spPr>
          <a:xfrm>
            <a:off x="792000" y="10417440"/>
            <a:ext cx="9756000" cy="369332"/>
          </a:xfrm>
          <a:prstGeom prst="rect">
            <a:avLst/>
          </a:prstGeom>
          <a:noFill/>
        </p:spPr>
        <p:txBody>
          <a:bodyPr vert="horz" wrap="square" lIns="12700" tIns="7620" rIns="12700" bIns="5080" rtlCol="0">
            <a:noAutofit/>
          </a:bodyPr>
          <a:lstStyle/>
          <a:p>
            <a:r>
              <a:rPr lang="en-GB" dirty="0">
                <a:solidFill>
                  <a:srgbClr val="6B7280"/>
                </a:solidFill>
                <a:latin typeface="Source Sans 3"/>
              </a:rPr>
              <a:t>F1. Integrated architecture linking the power grid to:  IT, UPS, chiller, and TES; flexibility emerges from coordinated electrical and thermal control.</a:t>
            </a:r>
          </a:p>
        </p:txBody>
      </p:sp>
      <p:sp>
        <p:nvSpPr>
          <p:cNvPr id="11" name="TextBox 10">
            <a:extLst>
              <a:ext uri="{FF2B5EF4-FFF2-40B4-BE49-F238E27FC236}">
                <a16:creationId xmlns:a16="http://schemas.microsoft.com/office/drawing/2014/main" id="{9EE0F415-21B5-5C4D-AEFE-6909D19772BA}"/>
              </a:ext>
            </a:extLst>
          </p:cNvPr>
          <p:cNvSpPr txBox="1"/>
          <p:nvPr/>
        </p:nvSpPr>
        <p:spPr>
          <a:xfrm>
            <a:off x="10835625" y="5139734"/>
            <a:ext cx="9756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Problem and Motivation</a:t>
            </a:r>
          </a:p>
        </p:txBody>
      </p:sp>
      <p:sp>
        <p:nvSpPr>
          <p:cNvPr id="12" name="TextBox 11">
            <a:extLst>
              <a:ext uri="{FF2B5EF4-FFF2-40B4-BE49-F238E27FC236}">
                <a16:creationId xmlns:a16="http://schemas.microsoft.com/office/drawing/2014/main" id="{66354B70-9DE2-6E51-8FC8-1732E9C31BB9}"/>
              </a:ext>
            </a:extLst>
          </p:cNvPr>
          <p:cNvSpPr txBox="1"/>
          <p:nvPr/>
        </p:nvSpPr>
        <p:spPr>
          <a:xfrm>
            <a:off x="10836000" y="5578400"/>
            <a:ext cx="97560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Global digitalisation and AI are accelerating data centre electricity demand while power systems integrate variable renewable energy sources and new electric loads. This increases peak stress, ramping pressure, and local network congestion. Simultaneously, data centres host controllable assets that can support grid balancing, especially when operated as an integrated system. This positions data centres as both a growing burden on grid stability and a potential solution. </a:t>
            </a:r>
          </a:p>
          <a:p>
            <a:endParaRPr lang="en-GB" dirty="0">
              <a:solidFill>
                <a:srgbClr val="102A43"/>
              </a:solidFill>
              <a:latin typeface="Source Sans 3"/>
            </a:endParaRPr>
          </a:p>
          <a:p>
            <a:endParaRPr lang="en-GB" dirty="0">
              <a:solidFill>
                <a:srgbClr val="102A43"/>
              </a:solidFill>
              <a:latin typeface="Source Sans 3"/>
            </a:endParaRPr>
          </a:p>
        </p:txBody>
      </p:sp>
      <p:sp>
        <p:nvSpPr>
          <p:cNvPr id="13" name="TextBox 12">
            <a:extLst>
              <a:ext uri="{FF2B5EF4-FFF2-40B4-BE49-F238E27FC236}">
                <a16:creationId xmlns:a16="http://schemas.microsoft.com/office/drawing/2014/main" id="{E525BAAF-DEB8-77D2-D526-880AB1BA6998}"/>
              </a:ext>
            </a:extLst>
          </p:cNvPr>
          <p:cNvSpPr txBox="1"/>
          <p:nvPr/>
        </p:nvSpPr>
        <p:spPr>
          <a:xfrm>
            <a:off x="10761049" y="7319114"/>
            <a:ext cx="9756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Research Objective</a:t>
            </a:r>
          </a:p>
        </p:txBody>
      </p:sp>
      <p:sp>
        <p:nvSpPr>
          <p:cNvPr id="14" name="TextBox 13">
            <a:extLst>
              <a:ext uri="{FF2B5EF4-FFF2-40B4-BE49-F238E27FC236}">
                <a16:creationId xmlns:a16="http://schemas.microsoft.com/office/drawing/2014/main" id="{62FDBEDB-1FE6-ED3F-0D1A-984125CCE07F}"/>
              </a:ext>
            </a:extLst>
          </p:cNvPr>
          <p:cNvSpPr txBox="1"/>
          <p:nvPr/>
        </p:nvSpPr>
        <p:spPr>
          <a:xfrm>
            <a:off x="10780508" y="7742819"/>
            <a:ext cx="97560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This work develops and tests a whole facility framework with two contributions. First, it computes a least cost day ahead operating baseline by co-optimising IT scheduling, UPS operation, and cooling/TES dispatch. Second, it quantifies the flexibility duration for a range of power deviations. This is done for </a:t>
            </a:r>
            <a:r>
              <a:rPr lang="en-GB" b="1" dirty="0">
                <a:solidFill>
                  <a:srgbClr val="102A43"/>
                </a:solidFill>
                <a:latin typeface="Source Sans 3"/>
              </a:rPr>
              <a:t>upward</a:t>
            </a:r>
            <a:r>
              <a:rPr lang="en-GB" dirty="0">
                <a:solidFill>
                  <a:srgbClr val="102A43"/>
                </a:solidFill>
                <a:latin typeface="Source Sans 3"/>
              </a:rPr>
              <a:t> flexibility (reducing power load) and </a:t>
            </a:r>
            <a:r>
              <a:rPr lang="en-GB" b="1" dirty="0">
                <a:solidFill>
                  <a:srgbClr val="102A43"/>
                </a:solidFill>
                <a:latin typeface="Source Sans 3"/>
              </a:rPr>
              <a:t>downward</a:t>
            </a:r>
            <a:r>
              <a:rPr lang="en-GB" dirty="0">
                <a:solidFill>
                  <a:srgbClr val="102A43"/>
                </a:solidFill>
                <a:latin typeface="Source Sans 3"/>
              </a:rPr>
              <a:t> flexibility (increasing power load). </a:t>
            </a:r>
          </a:p>
        </p:txBody>
      </p:sp>
      <p:sp>
        <p:nvSpPr>
          <p:cNvPr id="15" name="TextBox 14">
            <a:extLst>
              <a:ext uri="{FF2B5EF4-FFF2-40B4-BE49-F238E27FC236}">
                <a16:creationId xmlns:a16="http://schemas.microsoft.com/office/drawing/2014/main" id="{B6EB721B-493E-43F8-ACA7-C5A1A032ADE7}"/>
              </a:ext>
            </a:extLst>
          </p:cNvPr>
          <p:cNvSpPr txBox="1"/>
          <p:nvPr/>
        </p:nvSpPr>
        <p:spPr>
          <a:xfrm>
            <a:off x="10752650" y="9097244"/>
            <a:ext cx="9756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Integrated Model</a:t>
            </a:r>
          </a:p>
        </p:txBody>
      </p:sp>
      <p:sp>
        <p:nvSpPr>
          <p:cNvPr id="16" name="TextBox 15">
            <a:extLst>
              <a:ext uri="{FF2B5EF4-FFF2-40B4-BE49-F238E27FC236}">
                <a16:creationId xmlns:a16="http://schemas.microsoft.com/office/drawing/2014/main" id="{66C035D5-E48C-6012-E66E-0E2822621992}"/>
              </a:ext>
            </a:extLst>
          </p:cNvPr>
          <p:cNvSpPr txBox="1"/>
          <p:nvPr/>
        </p:nvSpPr>
        <p:spPr>
          <a:xfrm>
            <a:off x="10761049" y="9529271"/>
            <a:ext cx="97560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Flexibility is represented through three coupled subsystems. IT flexibility comes from shifting delay-tolerant workload while respecting maximum delay limits and assuming constant computational demand for a given IT job. UPS flexibility comes from varying the state of charge (SOC) and charge / discharge power flow. Cooling flexibility comes from chiller modulation, TES charge/discharge, and temperature dynamics for inlet air, cold aisle, racks, IT components, and hot aisle. The model uses 15-minute time steps over a 24-hour horizon plus a 3-hour extension window. A 1 MW IT facility is analysed with UPS capacity of 600 kWh and TES capacity of 1000 kWh, using day-ahead electricity prices.</a:t>
            </a:r>
          </a:p>
        </p:txBody>
      </p:sp>
      <p:sp>
        <p:nvSpPr>
          <p:cNvPr id="17" name="Rectangle 16">
            <a:extLst>
              <a:ext uri="{FF2B5EF4-FFF2-40B4-BE49-F238E27FC236}">
                <a16:creationId xmlns:a16="http://schemas.microsoft.com/office/drawing/2014/main" id="{A84829EF-E5BD-5753-4DDB-26A4046D7867}"/>
              </a:ext>
            </a:extLst>
          </p:cNvPr>
          <p:cNvSpPr/>
          <p:nvPr/>
        </p:nvSpPr>
        <p:spPr>
          <a:xfrm>
            <a:off x="539251" y="11560440"/>
            <a:ext cx="9756000" cy="4826000"/>
          </a:xfrm>
          <a:prstGeom prst="rect">
            <a:avLst/>
          </a:prstGeom>
          <a:solidFill>
            <a:srgbClr val="FFFFFF"/>
          </a:solidFill>
          <a:ln w="19050">
            <a:solidFill>
              <a:srgbClr val="E8E4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TextBox 19">
            <a:extLst>
              <a:ext uri="{FF2B5EF4-FFF2-40B4-BE49-F238E27FC236}">
                <a16:creationId xmlns:a16="http://schemas.microsoft.com/office/drawing/2014/main" id="{35AD8A3C-A659-E04E-D978-84FEA0D35CE7}"/>
              </a:ext>
            </a:extLst>
          </p:cNvPr>
          <p:cNvSpPr txBox="1"/>
          <p:nvPr/>
        </p:nvSpPr>
        <p:spPr>
          <a:xfrm>
            <a:off x="792000" y="15903840"/>
            <a:ext cx="9756000" cy="369332"/>
          </a:xfrm>
          <a:prstGeom prst="rect">
            <a:avLst/>
          </a:prstGeom>
          <a:noFill/>
        </p:spPr>
        <p:txBody>
          <a:bodyPr vert="horz" wrap="square" lIns="12700" tIns="7620" rIns="12700" bIns="5080" rtlCol="0">
            <a:noAutofit/>
          </a:bodyPr>
          <a:lstStyle/>
          <a:p>
            <a:r>
              <a:rPr lang="en-GB" dirty="0">
                <a:solidFill>
                  <a:srgbClr val="6B7280"/>
                </a:solidFill>
                <a:latin typeface="Source Sans 3"/>
              </a:rPr>
              <a:t>F2. Optimised demand tracks price: grid draw increases off-peak and drops during peak-price hours.</a:t>
            </a:r>
          </a:p>
        </p:txBody>
      </p:sp>
      <p:sp>
        <p:nvSpPr>
          <p:cNvPr id="21" name="Rectangle 20">
            <a:extLst>
              <a:ext uri="{FF2B5EF4-FFF2-40B4-BE49-F238E27FC236}">
                <a16:creationId xmlns:a16="http://schemas.microsoft.com/office/drawing/2014/main" id="{468CF3C2-676E-F737-0E45-7BF17FDB3791}"/>
              </a:ext>
            </a:extLst>
          </p:cNvPr>
          <p:cNvSpPr/>
          <p:nvPr/>
        </p:nvSpPr>
        <p:spPr>
          <a:xfrm>
            <a:off x="10710250" y="11566960"/>
            <a:ext cx="9755999" cy="4826000"/>
          </a:xfrm>
          <a:prstGeom prst="rect">
            <a:avLst/>
          </a:prstGeom>
          <a:solidFill>
            <a:srgbClr val="FFFFFF"/>
          </a:solidFill>
          <a:ln w="19050">
            <a:solidFill>
              <a:srgbClr val="E8E4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3" name="Picture 22">
            <a:extLst>
              <a:ext uri="{FF2B5EF4-FFF2-40B4-BE49-F238E27FC236}">
                <a16:creationId xmlns:a16="http://schemas.microsoft.com/office/drawing/2014/main" id="{63C4D36A-299F-DD54-A8FA-F4A2906D3643}"/>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2046875" y="11687440"/>
            <a:ext cx="7334250" cy="4191000"/>
          </a:xfrm>
          <a:prstGeom prst="rect">
            <a:avLst/>
          </a:prstGeom>
        </p:spPr>
      </p:pic>
      <p:sp>
        <p:nvSpPr>
          <p:cNvPr id="24" name="TextBox 23">
            <a:extLst>
              <a:ext uri="{FF2B5EF4-FFF2-40B4-BE49-F238E27FC236}">
                <a16:creationId xmlns:a16="http://schemas.microsoft.com/office/drawing/2014/main" id="{01C19BC7-0DB8-07D6-49FC-2B8FB41091FF}"/>
              </a:ext>
            </a:extLst>
          </p:cNvPr>
          <p:cNvSpPr txBox="1"/>
          <p:nvPr/>
        </p:nvSpPr>
        <p:spPr>
          <a:xfrm>
            <a:off x="10962999" y="16041403"/>
            <a:ext cx="9756000" cy="369332"/>
          </a:xfrm>
          <a:prstGeom prst="rect">
            <a:avLst/>
          </a:prstGeom>
          <a:noFill/>
        </p:spPr>
        <p:txBody>
          <a:bodyPr vert="horz" wrap="square" lIns="12700" tIns="7620" rIns="12700" bIns="5080" rtlCol="0">
            <a:noAutofit/>
          </a:bodyPr>
          <a:lstStyle/>
          <a:p>
            <a:r>
              <a:rPr lang="en-GB" dirty="0">
                <a:solidFill>
                  <a:srgbClr val="6B7280"/>
                </a:solidFill>
                <a:latin typeface="Source Sans 3"/>
              </a:rPr>
              <a:t>F3. Stacked dispatch shows IT, CRAC, UPS, and TES coordination delivering cost-minimising operation.</a:t>
            </a:r>
          </a:p>
        </p:txBody>
      </p:sp>
      <p:sp>
        <p:nvSpPr>
          <p:cNvPr id="25" name="TextBox 24">
            <a:extLst>
              <a:ext uri="{FF2B5EF4-FFF2-40B4-BE49-F238E27FC236}">
                <a16:creationId xmlns:a16="http://schemas.microsoft.com/office/drawing/2014/main" id="{DECE858C-EEDF-B2A2-EBB2-09BE4337E3C9}"/>
              </a:ext>
            </a:extLst>
          </p:cNvPr>
          <p:cNvSpPr txBox="1"/>
          <p:nvPr/>
        </p:nvSpPr>
        <p:spPr>
          <a:xfrm>
            <a:off x="539250" y="16581458"/>
            <a:ext cx="9756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Scenario Design</a:t>
            </a:r>
          </a:p>
        </p:txBody>
      </p:sp>
      <p:sp>
        <p:nvSpPr>
          <p:cNvPr id="26" name="TextBox 25">
            <a:extLst>
              <a:ext uri="{FF2B5EF4-FFF2-40B4-BE49-F238E27FC236}">
                <a16:creationId xmlns:a16="http://schemas.microsoft.com/office/drawing/2014/main" id="{21C49866-7B89-7617-5001-6DE15995695D}"/>
              </a:ext>
            </a:extLst>
          </p:cNvPr>
          <p:cNvSpPr txBox="1"/>
          <p:nvPr/>
        </p:nvSpPr>
        <p:spPr>
          <a:xfrm>
            <a:off x="539251" y="17021440"/>
            <a:ext cx="97560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Scenario 1 establishes a no-flexibility base-case cost benchmark. Scenario 2 co-optimises workload, UPS, and cooling/TES to minimise operating cost under physical constraints. Scenario 3 performs a duration-aware flexibility test on top of the Scenario 2 baseline. For each start time t0 and requested deviation </a:t>
            </a:r>
            <a:r>
              <a:rPr lang="en-GB" dirty="0">
                <a:solidFill>
                  <a:srgbClr val="102A43"/>
                </a:solidFill>
                <a:latin typeface="Source Sans 3"/>
                <a:cs typeface="Times New Roman" panose="02020603050405020304" pitchFamily="18" charset="0"/>
              </a:rPr>
              <a:t>Δ</a:t>
            </a:r>
            <a:r>
              <a:rPr lang="en-GB" dirty="0">
                <a:solidFill>
                  <a:srgbClr val="102A43"/>
                </a:solidFill>
                <a:latin typeface="Source Sans 3"/>
              </a:rPr>
              <a:t>P, the model searches for the maximum feasible duration </a:t>
            </a:r>
            <a:r>
              <a:rPr lang="en-GB" dirty="0">
                <a:solidFill>
                  <a:srgbClr val="102A43"/>
                </a:solidFill>
                <a:latin typeface="Source Sans 3"/>
                <a:cs typeface="Times New Roman" panose="02020603050405020304" pitchFamily="18" charset="0"/>
              </a:rPr>
              <a:t>τ,</a:t>
            </a:r>
            <a:r>
              <a:rPr lang="en-GB" dirty="0">
                <a:solidFill>
                  <a:srgbClr val="102A43"/>
                </a:solidFill>
                <a:latin typeface="Source Sans 3"/>
              </a:rPr>
              <a:t> while enforcing thermal and operational constraints and a 12-slot recovery window so post-event operation remains feasible.</a:t>
            </a:r>
          </a:p>
        </p:txBody>
      </p:sp>
      <p:sp>
        <p:nvSpPr>
          <p:cNvPr id="27" name="TextBox 26">
            <a:extLst>
              <a:ext uri="{FF2B5EF4-FFF2-40B4-BE49-F238E27FC236}">
                <a16:creationId xmlns:a16="http://schemas.microsoft.com/office/drawing/2014/main" id="{778E3A51-9814-6A6D-7C77-16B4F510D8CC}"/>
              </a:ext>
            </a:extLst>
          </p:cNvPr>
          <p:cNvSpPr txBox="1"/>
          <p:nvPr/>
        </p:nvSpPr>
        <p:spPr>
          <a:xfrm>
            <a:off x="10854250" y="16522534"/>
            <a:ext cx="9756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Key Results (Cost and Dispatch)</a:t>
            </a:r>
          </a:p>
        </p:txBody>
      </p:sp>
      <p:sp>
        <p:nvSpPr>
          <p:cNvPr id="28" name="TextBox 27">
            <a:extLst>
              <a:ext uri="{FF2B5EF4-FFF2-40B4-BE49-F238E27FC236}">
                <a16:creationId xmlns:a16="http://schemas.microsoft.com/office/drawing/2014/main" id="{49064B0F-5086-99C2-8F39-8E5EDDEA539A}"/>
              </a:ext>
            </a:extLst>
          </p:cNvPr>
          <p:cNvSpPr txBox="1"/>
          <p:nvPr/>
        </p:nvSpPr>
        <p:spPr>
          <a:xfrm>
            <a:off x="10836000" y="17021440"/>
            <a:ext cx="97560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Cost optimisation reduces daily operating cost from £1,659.54 to £1,493.19, delivering £166.34 savings (10.02%) without additional hardware investment. During low-price periods, the site increases grid draw to pre-charge TES/UPS and process more IT load; during peak-price periods, it reduces grid draw through deferred IT execution, UPS discharge, and cooling reallocation.</a:t>
            </a:r>
          </a:p>
        </p:txBody>
      </p:sp>
      <p:sp>
        <p:nvSpPr>
          <p:cNvPr id="30" name="TextBox 29">
            <a:extLst>
              <a:ext uri="{FF2B5EF4-FFF2-40B4-BE49-F238E27FC236}">
                <a16:creationId xmlns:a16="http://schemas.microsoft.com/office/drawing/2014/main" id="{8E3DA1CB-CAEC-99F2-7A8D-8FCB0605198C}"/>
              </a:ext>
            </a:extLst>
          </p:cNvPr>
          <p:cNvSpPr txBox="1"/>
          <p:nvPr/>
        </p:nvSpPr>
        <p:spPr>
          <a:xfrm>
            <a:off x="639969" y="11581914"/>
            <a:ext cx="8380265" cy="496332"/>
          </a:xfrm>
          <a:prstGeom prst="rect">
            <a:avLst/>
          </a:prstGeom>
          <a:noFill/>
        </p:spPr>
        <p:txBody>
          <a:bodyPr vert="horz" wrap="square" lIns="12700" tIns="7620" rIns="12700" bIns="5080" rtlCol="0">
            <a:noAutofit/>
          </a:bodyPr>
          <a:lstStyle/>
          <a:p>
            <a:r>
              <a:rPr lang="en-GB" b="1" dirty="0">
                <a:solidFill>
                  <a:srgbClr val="102A43"/>
                </a:solidFill>
                <a:latin typeface="IBM Plex Mono" panose="020B0509050203000203" pitchFamily="49" charset="0"/>
              </a:rPr>
              <a:t>£1,659.54 -&gt; £1,493.19, Savings: £166.34 (10.02%)</a:t>
            </a:r>
          </a:p>
        </p:txBody>
      </p:sp>
      <p:sp>
        <p:nvSpPr>
          <p:cNvPr id="31" name="Rectangle 30">
            <a:extLst>
              <a:ext uri="{FF2B5EF4-FFF2-40B4-BE49-F238E27FC236}">
                <a16:creationId xmlns:a16="http://schemas.microsoft.com/office/drawing/2014/main" id="{951FFB4E-C3D4-697F-EAF1-2022085B6967}"/>
              </a:ext>
            </a:extLst>
          </p:cNvPr>
          <p:cNvSpPr/>
          <p:nvPr/>
        </p:nvSpPr>
        <p:spPr>
          <a:xfrm>
            <a:off x="477691" y="18872733"/>
            <a:ext cx="19800000" cy="6058241"/>
          </a:xfrm>
          <a:prstGeom prst="rect">
            <a:avLst/>
          </a:prstGeom>
          <a:solidFill>
            <a:srgbClr val="FFFFFF"/>
          </a:solidFill>
          <a:ln w="20320">
            <a:solidFill>
              <a:srgbClr val="E8E4D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3" name="Picture 32">
            <a:extLst>
              <a:ext uri="{FF2B5EF4-FFF2-40B4-BE49-F238E27FC236}">
                <a16:creationId xmlns:a16="http://schemas.microsoft.com/office/drawing/2014/main" id="{B5F5B2E0-9FC4-DFDE-D275-02E26CB3D25D}"/>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10860722" y="18954394"/>
            <a:ext cx="9344301" cy="5152733"/>
          </a:xfrm>
          <a:prstGeom prst="rect">
            <a:avLst/>
          </a:prstGeom>
        </p:spPr>
      </p:pic>
      <p:sp>
        <p:nvSpPr>
          <p:cNvPr id="34" name="TextBox 33">
            <a:extLst>
              <a:ext uri="{FF2B5EF4-FFF2-40B4-BE49-F238E27FC236}">
                <a16:creationId xmlns:a16="http://schemas.microsoft.com/office/drawing/2014/main" id="{C2A27661-D09A-BAC7-7314-83B1F8444D58}"/>
              </a:ext>
            </a:extLst>
          </p:cNvPr>
          <p:cNvSpPr txBox="1"/>
          <p:nvPr/>
        </p:nvSpPr>
        <p:spPr>
          <a:xfrm>
            <a:off x="10272896" y="24365500"/>
            <a:ext cx="10337354" cy="462961"/>
          </a:xfrm>
          <a:prstGeom prst="rect">
            <a:avLst/>
          </a:prstGeom>
          <a:noFill/>
        </p:spPr>
        <p:txBody>
          <a:bodyPr vert="horz" wrap="square" lIns="12700" tIns="7620" rIns="12700" bIns="5080" rtlCol="0">
            <a:noAutofit/>
          </a:bodyPr>
          <a:lstStyle/>
          <a:p>
            <a:pPr algn="ctr"/>
            <a:r>
              <a:rPr lang="en-GB" dirty="0">
                <a:solidFill>
                  <a:srgbClr val="6B7280"/>
                </a:solidFill>
                <a:latin typeface="Source Sans 3"/>
              </a:rPr>
              <a:t>F4. Duration-certified flexibility envelope: maximum feasible duration (tau) varies strongly</a:t>
            </a:r>
          </a:p>
          <a:p>
            <a:pPr algn="ctr"/>
            <a:r>
              <a:rPr lang="en-GB" dirty="0">
                <a:solidFill>
                  <a:srgbClr val="6B7280"/>
                </a:solidFill>
                <a:latin typeface="Source Sans 3"/>
              </a:rPr>
              <a:t>with start time and requested +/-</a:t>
            </a:r>
            <a:r>
              <a:rPr lang="en-GB" dirty="0" err="1">
                <a:solidFill>
                  <a:srgbClr val="6B7280"/>
                </a:solidFill>
                <a:latin typeface="Source Sans 3"/>
              </a:rPr>
              <a:t>DeltaP</a:t>
            </a:r>
            <a:r>
              <a:rPr lang="en-GB" dirty="0">
                <a:solidFill>
                  <a:srgbClr val="6B7280"/>
                </a:solidFill>
                <a:latin typeface="Source Sans 3"/>
              </a:rPr>
              <a:t>.</a:t>
            </a:r>
          </a:p>
        </p:txBody>
      </p:sp>
      <p:sp>
        <p:nvSpPr>
          <p:cNvPr id="39" name="TextBox 38">
            <a:extLst>
              <a:ext uri="{FF2B5EF4-FFF2-40B4-BE49-F238E27FC236}">
                <a16:creationId xmlns:a16="http://schemas.microsoft.com/office/drawing/2014/main" id="{84CC880C-02DE-F07D-81C7-5C2B35E4A6AC}"/>
              </a:ext>
            </a:extLst>
          </p:cNvPr>
          <p:cNvSpPr txBox="1"/>
          <p:nvPr/>
        </p:nvSpPr>
        <p:spPr>
          <a:xfrm>
            <a:off x="377824" y="25361222"/>
            <a:ext cx="13104000" cy="369332"/>
          </a:xfrm>
          <a:prstGeom prst="rect">
            <a:avLst/>
          </a:prstGeom>
          <a:noFill/>
        </p:spPr>
        <p:txBody>
          <a:bodyPr vert="horz" wrap="square" lIns="12700" tIns="7620" rIns="12700" bIns="5080" rtlCol="0">
            <a:noAutofit/>
          </a:bodyPr>
          <a:lstStyle/>
          <a:p>
            <a:r>
              <a:rPr lang="en-GB" sz="2400" b="1" dirty="0">
                <a:solidFill>
                  <a:srgbClr val="102A43"/>
                </a:solidFill>
                <a:latin typeface="Montserrat" panose="00000500000000000000" pitchFamily="2" charset="0"/>
              </a:rPr>
              <a:t>Key Results (Flexibility Asymmetry</a:t>
            </a:r>
            <a:r>
              <a:rPr lang="en-GB" sz="3000" b="1" dirty="0">
                <a:solidFill>
                  <a:srgbClr val="102A43"/>
                </a:solidFill>
                <a:latin typeface="Montserrat" panose="00000500000000000000" pitchFamily="2" charset="0"/>
              </a:rPr>
              <a:t>)</a:t>
            </a:r>
          </a:p>
        </p:txBody>
      </p:sp>
      <p:sp>
        <p:nvSpPr>
          <p:cNvPr id="40" name="TextBox 39">
            <a:extLst>
              <a:ext uri="{FF2B5EF4-FFF2-40B4-BE49-F238E27FC236}">
                <a16:creationId xmlns:a16="http://schemas.microsoft.com/office/drawing/2014/main" id="{7C1AB866-75A3-B220-04A2-F3B8D054EBE4}"/>
              </a:ext>
            </a:extLst>
          </p:cNvPr>
          <p:cNvSpPr txBox="1"/>
          <p:nvPr/>
        </p:nvSpPr>
        <p:spPr>
          <a:xfrm>
            <a:off x="361942" y="25917998"/>
            <a:ext cx="10498780" cy="3046148"/>
          </a:xfrm>
          <a:prstGeom prst="rect">
            <a:avLst/>
          </a:prstGeom>
          <a:noFill/>
        </p:spPr>
        <p:txBody>
          <a:bodyPr vert="horz" wrap="square" lIns="12700" tIns="7620" rIns="12700" bIns="5080" rtlCol="0">
            <a:noAutofit/>
          </a:bodyPr>
          <a:lstStyle/>
          <a:p>
            <a:r>
              <a:rPr lang="en-GB" dirty="0">
                <a:solidFill>
                  <a:srgbClr val="102A43"/>
                </a:solidFill>
                <a:latin typeface="Source Sans 3"/>
              </a:rPr>
              <a:t>The flexibility heatmap reveals strong temporal structure and clear asymmetry. Upward flexibility (negative </a:t>
            </a:r>
            <a:r>
              <a:rPr lang="en-GB" dirty="0">
                <a:solidFill>
                  <a:srgbClr val="102A43"/>
                </a:solidFill>
                <a:latin typeface="Source Sans 3"/>
                <a:cs typeface="Times New Roman" panose="02020603050405020304" pitchFamily="18" charset="0"/>
              </a:rPr>
              <a:t>Δ</a:t>
            </a:r>
            <a:r>
              <a:rPr lang="en-GB" dirty="0">
                <a:solidFill>
                  <a:srgbClr val="102A43"/>
                </a:solidFill>
                <a:latin typeface="Source Sans 3"/>
              </a:rPr>
              <a:t>P) is strongest when IT deferral headroom is available and is reinforced by cooling reduction. Downward flexibility (positive </a:t>
            </a:r>
            <a:r>
              <a:rPr lang="en-GB" dirty="0">
                <a:solidFill>
                  <a:srgbClr val="102A43"/>
                </a:solidFill>
                <a:latin typeface="Source Sans 3"/>
                <a:cs typeface="Times New Roman" panose="02020603050405020304" pitchFamily="18" charset="0"/>
              </a:rPr>
              <a:t>Δ</a:t>
            </a:r>
            <a:r>
              <a:rPr lang="en-GB" dirty="0">
                <a:solidFill>
                  <a:srgbClr val="102A43"/>
                </a:solidFill>
                <a:latin typeface="Source Sans 3"/>
              </a:rPr>
              <a:t>P) is concentrated later in the day and relies more on CRAC/TES and UPS charging because advancing IT workloads is constrained. A representative contrast is -100 kW upward flexibility for 6.8 h at 00:15 versus 0.2 h at 17:30. The stacked bar charts above show the flexibility contributions of each asset at each time step. The assets complimentary characteristics result in an integrated system that can provide significant flexibility over the 24 hour time horizon. </a:t>
            </a:r>
          </a:p>
        </p:txBody>
      </p:sp>
      <p:sp>
        <p:nvSpPr>
          <p:cNvPr id="47" name="TextBox 46">
            <a:extLst>
              <a:ext uri="{FF2B5EF4-FFF2-40B4-BE49-F238E27FC236}">
                <a16:creationId xmlns:a16="http://schemas.microsoft.com/office/drawing/2014/main" id="{C98496D3-A397-D632-0A76-79052E7E3D01}"/>
              </a:ext>
            </a:extLst>
          </p:cNvPr>
          <p:cNvSpPr txBox="1"/>
          <p:nvPr/>
        </p:nvSpPr>
        <p:spPr>
          <a:xfrm>
            <a:off x="523368" y="24361118"/>
            <a:ext cx="10337354" cy="537993"/>
          </a:xfrm>
          <a:prstGeom prst="rect">
            <a:avLst/>
          </a:prstGeom>
          <a:noFill/>
        </p:spPr>
        <p:txBody>
          <a:bodyPr vert="horz" wrap="square" lIns="12700" tIns="7620" rIns="12700" bIns="5080" rtlCol="0">
            <a:noAutofit/>
          </a:bodyPr>
          <a:lstStyle/>
          <a:p>
            <a:pPr algn="ctr"/>
            <a:r>
              <a:rPr lang="en-GB" dirty="0">
                <a:solidFill>
                  <a:srgbClr val="6B7280"/>
                </a:solidFill>
                <a:latin typeface="Source Sans 3"/>
              </a:rPr>
              <a:t>F5. Component-level decomposition highlights asymmetry between upward (left) and downward (right) flexibility provision.</a:t>
            </a:r>
          </a:p>
        </p:txBody>
      </p:sp>
      <p:sp>
        <p:nvSpPr>
          <p:cNvPr id="49" name="TextBox 48">
            <a:extLst>
              <a:ext uri="{FF2B5EF4-FFF2-40B4-BE49-F238E27FC236}">
                <a16:creationId xmlns:a16="http://schemas.microsoft.com/office/drawing/2014/main" id="{E35D8F0F-C083-504B-A98B-B3F5CAE421A3}"/>
              </a:ext>
            </a:extLst>
          </p:cNvPr>
          <p:cNvSpPr txBox="1"/>
          <p:nvPr/>
        </p:nvSpPr>
        <p:spPr>
          <a:xfrm>
            <a:off x="12339173" y="25480993"/>
            <a:ext cx="6204800" cy="369332"/>
          </a:xfrm>
          <a:prstGeom prst="rect">
            <a:avLst/>
          </a:prstGeom>
          <a:noFill/>
        </p:spPr>
        <p:txBody>
          <a:bodyPr vert="horz" wrap="square" lIns="12700" tIns="7620" rIns="12700" bIns="5080" rtlCol="0">
            <a:noAutofit/>
          </a:bodyPr>
          <a:lstStyle/>
          <a:p>
            <a:r>
              <a:rPr lang="en-GB" sz="2000" b="1" dirty="0">
                <a:solidFill>
                  <a:srgbClr val="102A43"/>
                </a:solidFill>
                <a:latin typeface="Montserrat" panose="00000500000000000000" pitchFamily="2" charset="0"/>
              </a:rPr>
              <a:t>Practical Implications</a:t>
            </a:r>
          </a:p>
        </p:txBody>
      </p:sp>
      <p:sp>
        <p:nvSpPr>
          <p:cNvPr id="50" name="TextBox 49">
            <a:extLst>
              <a:ext uri="{FF2B5EF4-FFF2-40B4-BE49-F238E27FC236}">
                <a16:creationId xmlns:a16="http://schemas.microsoft.com/office/drawing/2014/main" id="{DE927634-F96E-E330-2F80-160E0463C60F}"/>
              </a:ext>
            </a:extLst>
          </p:cNvPr>
          <p:cNvSpPr txBox="1"/>
          <p:nvPr/>
        </p:nvSpPr>
        <p:spPr>
          <a:xfrm>
            <a:off x="12339173" y="25895122"/>
            <a:ext cx="6204800" cy="369332"/>
          </a:xfrm>
          <a:prstGeom prst="rect">
            <a:avLst/>
          </a:prstGeom>
          <a:noFill/>
        </p:spPr>
        <p:txBody>
          <a:bodyPr vert="horz" wrap="square" lIns="12700" tIns="7620" rIns="12700" bIns="5080" rtlCol="0">
            <a:noAutofit/>
          </a:bodyPr>
          <a:lstStyle/>
          <a:p>
            <a:r>
              <a:rPr lang="en-GB" dirty="0">
                <a:solidFill>
                  <a:srgbClr val="102A43"/>
                </a:solidFill>
                <a:latin typeface="Source Sans 3"/>
              </a:rPr>
              <a:t>The framework turns abstract flexibility potential into market-relevant, duration certified flexibility magnitudes. This flexibility could be utilised in reserve, response or an alternative flexibility service. In doing so, the data centre generates revenue and contributes to grid balancing. Furthermore, system planners gain time and magnitude specific estimates of dependable demand side response from data centres. Because duration is certified rather than assumed, outputs can be mapped directly to products with explicit start-time and magnitude commitments.</a:t>
            </a:r>
          </a:p>
        </p:txBody>
      </p:sp>
      <p:sp>
        <p:nvSpPr>
          <p:cNvPr id="51" name="TextBox 50">
            <a:extLst>
              <a:ext uri="{FF2B5EF4-FFF2-40B4-BE49-F238E27FC236}">
                <a16:creationId xmlns:a16="http://schemas.microsoft.com/office/drawing/2014/main" id="{3069BE02-E5CF-3322-3D53-6A159DD06ED4}"/>
              </a:ext>
            </a:extLst>
          </p:cNvPr>
          <p:cNvSpPr txBox="1"/>
          <p:nvPr/>
        </p:nvSpPr>
        <p:spPr>
          <a:xfrm>
            <a:off x="361942" y="28152161"/>
            <a:ext cx="6204800" cy="369332"/>
          </a:xfrm>
          <a:prstGeom prst="rect">
            <a:avLst/>
          </a:prstGeom>
          <a:noFill/>
        </p:spPr>
        <p:txBody>
          <a:bodyPr vert="horz" wrap="square" lIns="12700" tIns="7620" rIns="12700" bIns="5080" rtlCol="0">
            <a:noAutofit/>
          </a:bodyPr>
          <a:lstStyle/>
          <a:p>
            <a:r>
              <a:rPr lang="en-GB" sz="1600" b="1" dirty="0">
                <a:solidFill>
                  <a:srgbClr val="102A43"/>
                </a:solidFill>
                <a:latin typeface="Montserrat" panose="00000500000000000000" pitchFamily="2" charset="0"/>
              </a:rPr>
              <a:t>Limitations and Next Work</a:t>
            </a:r>
          </a:p>
        </p:txBody>
      </p:sp>
      <p:sp>
        <p:nvSpPr>
          <p:cNvPr id="52" name="TextBox 51">
            <a:extLst>
              <a:ext uri="{FF2B5EF4-FFF2-40B4-BE49-F238E27FC236}">
                <a16:creationId xmlns:a16="http://schemas.microsoft.com/office/drawing/2014/main" id="{C6C696A5-9746-A620-CEFB-995E4C5CEE9E}"/>
              </a:ext>
            </a:extLst>
          </p:cNvPr>
          <p:cNvSpPr txBox="1"/>
          <p:nvPr/>
        </p:nvSpPr>
        <p:spPr>
          <a:xfrm>
            <a:off x="361942" y="28570838"/>
            <a:ext cx="11326823" cy="858596"/>
          </a:xfrm>
          <a:prstGeom prst="rect">
            <a:avLst/>
          </a:prstGeom>
          <a:noFill/>
        </p:spPr>
        <p:txBody>
          <a:bodyPr vert="horz" wrap="square" lIns="12700" tIns="7620" rIns="12700" bIns="5080" rtlCol="0">
            <a:noAutofit/>
          </a:bodyPr>
          <a:lstStyle/>
          <a:p>
            <a:r>
              <a:rPr lang="en-GB" dirty="0">
                <a:solidFill>
                  <a:srgbClr val="102A43"/>
                </a:solidFill>
                <a:latin typeface="Source Sans 3"/>
              </a:rPr>
              <a:t>Future work: explicit revenue stacking, pre-conditioning windows for more symmetric downward IT participation, and multi-site portfolio aggregation.</a:t>
            </a:r>
          </a:p>
        </p:txBody>
      </p:sp>
      <p:sp>
        <p:nvSpPr>
          <p:cNvPr id="56" name="TextBox 55">
            <a:extLst>
              <a:ext uri="{FF2B5EF4-FFF2-40B4-BE49-F238E27FC236}">
                <a16:creationId xmlns:a16="http://schemas.microsoft.com/office/drawing/2014/main" id="{08AB5EDD-A1DD-48C0-82CB-BF95590CF0EB}"/>
              </a:ext>
            </a:extLst>
          </p:cNvPr>
          <p:cNvSpPr txBox="1"/>
          <p:nvPr/>
        </p:nvSpPr>
        <p:spPr>
          <a:xfrm>
            <a:off x="792000" y="30022000"/>
            <a:ext cx="19800001" cy="369332"/>
          </a:xfrm>
          <a:prstGeom prst="rect">
            <a:avLst/>
          </a:prstGeom>
          <a:noFill/>
        </p:spPr>
        <p:txBody>
          <a:bodyPr vert="horz" wrap="square" lIns="12700" tIns="7620" rIns="12700" bIns="5080" rtlCol="0">
            <a:noAutofit/>
          </a:bodyPr>
          <a:lstStyle/>
          <a:p>
            <a:r>
              <a:rPr lang="en-GB" sz="1000">
                <a:solidFill>
                  <a:srgbClr val="6B7280"/>
                </a:solidFill>
                <a:latin typeface="Source Sans 3"/>
              </a:rPr>
              <a:t>References: IEA (2025) Energy and AI; ASHRAE thermal guidance; Takci et al. (2025).</a:t>
            </a:r>
          </a:p>
        </p:txBody>
      </p:sp>
      <p:pic>
        <p:nvPicPr>
          <p:cNvPr id="18" name="Picture 17" descr="A graph of different colored lines&#10;&#10;AI-generated content may be incorrect.">
            <a:extLst>
              <a:ext uri="{FF2B5EF4-FFF2-40B4-BE49-F238E27FC236}">
                <a16:creationId xmlns:a16="http://schemas.microsoft.com/office/drawing/2014/main" id="{03E19D2E-A4C3-E9C8-7E35-36DE2C70051B}"/>
              </a:ext>
            </a:extLst>
          </p:cNvPr>
          <p:cNvPicPr>
            <a:picLocks noChangeAspect="1"/>
          </p:cNvPicPr>
          <p:nvPr/>
        </p:nvPicPr>
        <p:blipFill>
          <a:blip r:embed="rId5">
            <a:extLst>
              <a:ext uri="{28A0092B-C50C-407E-A947-70E740481C1C}">
                <a14:useLocalDpi xmlns:a14="http://schemas.microsoft.com/office/drawing/2010/main" val="0"/>
              </a:ext>
            </a:extLst>
          </a:blip>
          <a:srcRect l="3855" t="7932" b="6407"/>
          <a:stretch>
            <a:fillRect/>
          </a:stretch>
        </p:blipFill>
        <p:spPr>
          <a:xfrm>
            <a:off x="539250" y="11871090"/>
            <a:ext cx="8819363" cy="3928802"/>
          </a:xfrm>
          <a:prstGeom prst="rect">
            <a:avLst/>
          </a:prstGeom>
        </p:spPr>
      </p:pic>
      <p:pic>
        <p:nvPicPr>
          <p:cNvPr id="45" name="Picture 44" descr="A graph of different colored lines&#10;&#10;AI-generated content may be incorrect.">
            <a:extLst>
              <a:ext uri="{FF2B5EF4-FFF2-40B4-BE49-F238E27FC236}">
                <a16:creationId xmlns:a16="http://schemas.microsoft.com/office/drawing/2014/main" id="{60CAFF1F-DEDC-EE7C-0D67-99636C36B9F7}"/>
              </a:ext>
            </a:extLst>
          </p:cNvPr>
          <p:cNvPicPr>
            <a:picLocks noChangeAspect="1"/>
          </p:cNvPicPr>
          <p:nvPr/>
        </p:nvPicPr>
        <p:blipFill>
          <a:blip r:embed="rId6">
            <a:extLst>
              <a:ext uri="{28A0092B-C50C-407E-A947-70E740481C1C}">
                <a14:useLocalDpi xmlns:a14="http://schemas.microsoft.com/office/drawing/2010/main" val="0"/>
              </a:ext>
            </a:extLst>
          </a:blip>
          <a:srcRect t="2883" r="3863" b="8800"/>
          <a:stretch>
            <a:fillRect/>
          </a:stretch>
        </p:blipFill>
        <p:spPr>
          <a:xfrm>
            <a:off x="5707927" y="18973543"/>
            <a:ext cx="5152795" cy="5071838"/>
          </a:xfrm>
          <a:prstGeom prst="rect">
            <a:avLst/>
          </a:prstGeom>
        </p:spPr>
      </p:pic>
      <p:pic>
        <p:nvPicPr>
          <p:cNvPr id="32" name="Picture 31" descr="A screenshot of a graph&#10;&#10;AI-generated content may be incorrect.">
            <a:extLst>
              <a:ext uri="{FF2B5EF4-FFF2-40B4-BE49-F238E27FC236}">
                <a16:creationId xmlns:a16="http://schemas.microsoft.com/office/drawing/2014/main" id="{0B84B362-5F8A-8AD1-A73C-72A6BD722B1B}"/>
              </a:ext>
            </a:extLst>
          </p:cNvPr>
          <p:cNvPicPr>
            <a:picLocks noChangeAspect="1"/>
          </p:cNvPicPr>
          <p:nvPr/>
        </p:nvPicPr>
        <p:blipFill>
          <a:blip r:embed="rId7">
            <a:extLst>
              <a:ext uri="{28A0092B-C50C-407E-A947-70E740481C1C}">
                <a14:useLocalDpi xmlns:a14="http://schemas.microsoft.com/office/drawing/2010/main" val="0"/>
              </a:ext>
            </a:extLst>
          </a:blip>
          <a:srcRect t="3592" r="2288" b="8190"/>
          <a:stretch>
            <a:fillRect/>
          </a:stretch>
        </p:blipFill>
        <p:spPr>
          <a:xfrm>
            <a:off x="539250" y="18967023"/>
            <a:ext cx="5294851" cy="5121855"/>
          </a:xfrm>
          <a:prstGeom prst="rect">
            <a:avLst/>
          </a:prstGeom>
        </p:spPr>
      </p:pic>
      <p:pic>
        <p:nvPicPr>
          <p:cNvPr id="19" name="Picture 18" descr="A close-up of a red sign&#10;&#10;AI-generated content may be incorrect.">
            <a:extLst>
              <a:ext uri="{FF2B5EF4-FFF2-40B4-BE49-F238E27FC236}">
                <a16:creationId xmlns:a16="http://schemas.microsoft.com/office/drawing/2014/main" id="{0068226E-3F27-3BC6-DAB2-FA707748151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410729" y="3129237"/>
            <a:ext cx="1719900" cy="1629379"/>
          </a:xfrm>
          <a:prstGeom prst="rect">
            <a:avLst/>
          </a:prstGeom>
        </p:spPr>
      </p:pic>
    </p:spTree>
    <p:extLst>
      <p:ext uri="{BB962C8B-B14F-4D97-AF65-F5344CB8AC3E}">
        <p14:creationId xmlns:p14="http://schemas.microsoft.com/office/powerpoint/2010/main" val="23761038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050A85-F194-4C51-BF65-5326F319AADF}">
  <we:reference id="wa200010001" version="1.0.0.0" store="en-GB" storeType="OMEX"/>
  <we:alternateReferences>
    <we:reference id="wa200010001" version="1.0.0.0" store="WA200010001"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246</TotalTime>
  <Words>846</Words>
  <Application>Microsoft Office PowerPoint</Application>
  <PresentationFormat>Custom</PresentationFormat>
  <Paragraphs>28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Aptos Display</vt:lpstr>
      <vt:lpstr>Arial</vt:lpstr>
      <vt:lpstr>IBM Plex Mono</vt:lpstr>
      <vt:lpstr>Montserrat</vt:lpstr>
      <vt:lpstr>Source Sans 3</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jamie day</dc:creator>
  <cp:lastModifiedBy>jamie day</cp:lastModifiedBy>
  <cp:revision>6</cp:revision>
  <dcterms:created xsi:type="dcterms:W3CDTF">2026-02-16T10:49:07Z</dcterms:created>
  <dcterms:modified xsi:type="dcterms:W3CDTF">2026-02-23T14:23:28Z</dcterms:modified>
</cp:coreProperties>
</file>