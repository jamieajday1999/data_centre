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902" y="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FA6DB-4C82-80D3-C043-42E73142D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2954" y="4954765"/>
            <a:ext cx="16037719" cy="1054025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4C8E3-29BC-3091-99F4-D4E83B6ABD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2954" y="15901497"/>
            <a:ext cx="16037719" cy="730949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A853B-F24A-D70F-044D-F9BC8A9AA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203C-B86E-727C-911B-1AFDF63E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05C0D-6984-8466-8D2F-F0789AE2B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995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E0FB7-81F4-4F47-C402-06E623906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F578-30FC-FA4D-8392-DC32EF5DF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A83AD-D16F-9493-C537-069F18028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BD2DD-5D11-6ADE-CE18-1331FD45C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85E15-291B-669F-C739-53D85487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00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70B0-DD2B-C753-CFE3-6E396A194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91B59-E747-96DA-C5C8-55D777D51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8F123-F5DF-64B5-4600-BDBC319A9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950BC-D40A-7514-BF35-194A64934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B43B0-17E6-5AC0-B513-00384E6F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33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FF942-29E3-BFAC-E16D-E68F51DE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CA3D2-9FE9-8B1D-2919-31FEDAB20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0125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021D0-2F62-7900-4952-FBC529AD4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25461" y="8059374"/>
            <a:ext cx="9088041" cy="1920934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8B377-E4B3-214A-D86C-3CCBF65B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0DA2F-6BB8-43E5-05B8-8F1F1BC0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B6C27-21B1-72F4-1EEE-79BDFC94D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0153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C2AE-14BA-58E5-B8A7-918E77B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0" y="1611882"/>
            <a:ext cx="18443377" cy="5851808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D6844-C815-F0B8-5755-60F960DE4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2911" y="7421634"/>
            <a:ext cx="9046275" cy="36372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0435D-B761-7F76-AB0F-31479E168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72911" y="11058863"/>
            <a:ext cx="9046275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972A0-3D83-7589-073C-F9C5A65CB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825460" y="7421634"/>
            <a:ext cx="9090826" cy="36372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0DBC6C-9095-1897-315C-F2329CFE2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825460" y="11058863"/>
            <a:ext cx="9090826" cy="1626592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6D9E86-841A-F7CC-C105-2D8A167EA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0B2829-7BEC-3D24-27E4-2F449919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91092-A697-B5C3-5E00-8D245872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86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27BB-5E19-966F-C9E2-87169A5BA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5944A3-DB6B-E6B7-37FA-29044E72A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2C156-9C05-688E-31E5-71AE2878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C3E00-7EF4-068A-0854-CE7F511A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658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2EDCB-6506-5145-DF69-95AD42AAD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83F8A5-4181-46B5-9DE8-1334D42AD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536B5-D23E-4EB6-85B9-1F013343E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961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2675A-214D-54F9-1D93-A51CD94F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1" y="2018348"/>
            <a:ext cx="6896775" cy="706421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6D3DB-4B52-933F-06BD-B05FE6029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63789-0957-65D4-E493-CBE4954EF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2911" y="9082564"/>
            <a:ext cx="6896775" cy="16826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1FB0F-A121-7C70-4FCB-2F448B82F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5AA9E-5766-82E1-5E28-608D9B114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77E19-7A7F-9277-6915-A3B9B92B9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037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C6E6B-5859-FB7E-CC83-F1DA7804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911" y="2018348"/>
            <a:ext cx="6896775" cy="706421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202F05-2E4D-7BFA-8413-2E371C9A7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AC03C-9F1C-94BE-B20F-BDCC998C2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2911" y="9082564"/>
            <a:ext cx="6896775" cy="16826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AF4FA-5576-1107-153B-3858E401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8E3E3-EE4D-29D2-F8AF-FBAB96BE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BF131-E223-B898-19B7-607F9457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79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2094C-557A-1A9E-2A65-49A69114D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D62DA-B31C-9766-6409-BA8294160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447E-1BA1-039B-7EDC-99FB87166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24670-5F63-3BC0-233D-6BE087669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02A5C-04E0-AE28-0DB2-6B94A1A66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40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500CD7-02D9-906B-98FC-AF9897348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5302657" y="1611875"/>
            <a:ext cx="4610844" cy="256568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FE1F07-30CE-9435-075B-65973D112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848CA-91E6-4FFE-49AD-B24AD92B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5EF57-C6DF-F14D-0B3E-63B876FF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7A49A-2F99-36E5-A0D7-26EA260A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62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BBAF5-495A-78EC-6213-EE984DDD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0125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3A337-8B06-1CD9-2167-D71E595B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0125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3C3BC-3879-31FB-0257-AE479557B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0B5084-8D88-47FF-AD8C-FB9DC30B5ECC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B809F-8F08-ACD4-D863-284AE72BB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3327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11B4B-90D1-303B-4A6B-D4AA9D8BF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735D3-C921-4B1D-B7BD-501153D8D7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2040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2C3A757-0459-5552-755F-1C2276270242}"/>
              </a:ext>
            </a:extLst>
          </p:cNvPr>
          <p:cNvSpPr/>
          <p:nvPr/>
        </p:nvSpPr>
        <p:spPr>
          <a:xfrm>
            <a:off x="792000" y="19536034"/>
            <a:ext cx="3683000" cy="1371600"/>
          </a:xfrm>
          <a:prstGeom prst="rect">
            <a:avLst/>
          </a:prstGeom>
          <a:solidFill>
            <a:srgbClr val="EAF4FA"/>
          </a:solidFill>
          <a:ln w="15240">
            <a:solidFill>
              <a:srgbClr val="CEDCEA"/>
            </a:solidFill>
          </a:ln>
          <a:effectLst>
            <a:outerShdw blurRad="30480" dist="21552" dir="270002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DA3D83-52E6-2418-6E64-AB86BD31E3B4}"/>
              </a:ext>
            </a:extLst>
          </p:cNvPr>
          <p:cNvSpPr/>
          <p:nvPr/>
        </p:nvSpPr>
        <p:spPr>
          <a:xfrm>
            <a:off x="-23925" y="115332"/>
            <a:ext cx="21384000" cy="30276000"/>
          </a:xfrm>
          <a:prstGeom prst="rect">
            <a:avLst/>
          </a:prstGeom>
          <a:solidFill>
            <a:srgbClr val="F6F9FC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5F4E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66798D-2C82-22D3-FBD7-B5134271FCB2}"/>
              </a:ext>
            </a:extLst>
          </p:cNvPr>
          <p:cNvSpPr txBox="1"/>
          <p:nvPr/>
        </p:nvSpPr>
        <p:spPr>
          <a:xfrm>
            <a:off x="792000" y="817400"/>
            <a:ext cx="19800001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6400" b="1" dirty="0">
                <a:solidFill>
                  <a:srgbClr val="172537"/>
                </a:solidFill>
                <a:latin typeface="Segoe UI Semibold" panose="020B0702040204020203" pitchFamily="34" charset="0"/>
              </a:rPr>
              <a:t>Characterisation and Quantification of Data Centre Flexibility for Power System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CCC498-C113-9C45-3D9F-349352E4615D}"/>
              </a:ext>
            </a:extLst>
          </p:cNvPr>
          <p:cNvSpPr txBox="1"/>
          <p:nvPr/>
        </p:nvSpPr>
        <p:spPr>
          <a:xfrm>
            <a:off x="911849" y="3016568"/>
            <a:ext cx="19698401" cy="668986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2500" dirty="0">
                <a:solidFill>
                  <a:srgbClr val="3B4E64"/>
                </a:solidFill>
                <a:latin typeface="Segoe UI" panose="020B0502040204020203" pitchFamily="34" charset="0"/>
              </a:rPr>
              <a:t>Mehmet Turker Takci, James Day, Meysam Qadrdan | Cardiff University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18BA4-9364-9FC7-658A-2261DC98BE55}"/>
              </a:ext>
            </a:extLst>
          </p:cNvPr>
          <p:cNvSpPr/>
          <p:nvPr/>
        </p:nvSpPr>
        <p:spPr>
          <a:xfrm>
            <a:off x="810250" y="3741500"/>
            <a:ext cx="19800000" cy="812800"/>
          </a:xfrm>
          <a:prstGeom prst="rect">
            <a:avLst/>
          </a:prstGeom>
          <a:solidFill>
            <a:srgbClr val="FFFFFF">
              <a:alpha val="96000"/>
            </a:srgbClr>
          </a:solidFill>
          <a:ln w="17780">
            <a:solidFill>
              <a:srgbClr val="E8E4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544BD8-595B-0BE1-A419-C9F89FB5BC75}"/>
              </a:ext>
            </a:extLst>
          </p:cNvPr>
          <p:cNvSpPr txBox="1"/>
          <p:nvPr/>
        </p:nvSpPr>
        <p:spPr>
          <a:xfrm>
            <a:off x="911849" y="3872654"/>
            <a:ext cx="19596801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2400" b="1" dirty="0">
                <a:solidFill>
                  <a:srgbClr val="3B4E64"/>
                </a:solidFill>
                <a:latin typeface="Segoe UI Semibold" panose="020B0702040204020203" pitchFamily="34" charset="0"/>
              </a:rPr>
              <a:t>Core message: an integrated IT-UPS-cooling strategy can reduce operating cost and provide duration-certified flexibility to the grid.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074FE9-4963-D649-156E-9B19D99F84A6}"/>
              </a:ext>
            </a:extLst>
          </p:cNvPr>
          <p:cNvSpPr/>
          <p:nvPr/>
        </p:nvSpPr>
        <p:spPr>
          <a:xfrm>
            <a:off x="792000" y="5299000"/>
            <a:ext cx="9756000" cy="5626440"/>
          </a:xfrm>
          <a:prstGeom prst="rect">
            <a:avLst/>
          </a:prstGeom>
          <a:solidFill>
            <a:srgbClr val="FAFCFF"/>
          </a:solidFill>
          <a:ln w="15240">
            <a:solidFill>
              <a:srgbClr val="CEDCEA"/>
            </a:solidFill>
          </a:ln>
          <a:effectLst>
            <a:outerShdw blurRad="30480" dist="21552" dir="270002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5BF5C42-B9B0-222E-AFC3-3D8A4FD93A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141" y="5426000"/>
            <a:ext cx="6783718" cy="4940640"/>
          </a:xfrm>
          <a:prstGeom prst="rect">
            <a:avLst/>
          </a:prstGeom>
          <a:ln w="12700">
            <a:solidFill>
              <a:srgbClr val="B4C9DC"/>
            </a:solidFill>
          </a:ln>
          <a:effectLst>
            <a:outerShdw blurRad="25400" dist="17961" dir="2699987" rotWithShape="0">
              <a:scrgbClr r="0" g="0" b="0">
                <a:alpha val="10000"/>
              </a:sc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1BDE12-99B3-EE95-DEB4-7C860B558176}"/>
              </a:ext>
            </a:extLst>
          </p:cNvPr>
          <p:cNvSpPr txBox="1"/>
          <p:nvPr/>
        </p:nvSpPr>
        <p:spPr>
          <a:xfrm>
            <a:off x="792000" y="1041744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i="1">
                <a:solidFill>
                  <a:srgbClr val="57677C"/>
                </a:solidFill>
                <a:latin typeface="Segoe UI" panose="020B0502040204020203" pitchFamily="34" charset="0"/>
              </a:rPr>
              <a:t>F1. Integrated architecture linking grid, UPS, IT, chiller, and TES; flexibility emerges from coordinated electrical and thermal control.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E0F415-21B5-5C4D-AEFE-6909D19772BA}"/>
              </a:ext>
            </a:extLst>
          </p:cNvPr>
          <p:cNvSpPr txBox="1"/>
          <p:nvPr/>
        </p:nvSpPr>
        <p:spPr>
          <a:xfrm>
            <a:off x="10836000" y="522280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2400" b="1">
                <a:solidFill>
                  <a:srgbClr val="172537"/>
                </a:solidFill>
                <a:latin typeface="Segoe UI Semibold" panose="020B0702040204020203" pitchFamily="34" charset="0"/>
              </a:rPr>
              <a:t>Problem and Motivation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354B70-9DE2-6E51-8FC8-1732E9C31BB9}"/>
              </a:ext>
            </a:extLst>
          </p:cNvPr>
          <p:cNvSpPr txBox="1"/>
          <p:nvPr/>
        </p:nvSpPr>
        <p:spPr>
          <a:xfrm>
            <a:off x="10836000" y="557840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>
                <a:solidFill>
                  <a:srgbClr val="3B4E64"/>
                </a:solidFill>
                <a:latin typeface="Segoe UI" panose="020B0502040204020203" pitchFamily="34" charset="0"/>
              </a:rPr>
              <a:t>Global digitalisation and AI are accelerating data-centre electricity demand while power systems integrate variable renewables and new electric loads. This increases peak stress, ramping pressure, and local network congestion. Data centres therefore have a dual role: they are part of the flexibility challenge, but they also host controllable assets that can support balancing when operated as an integrated system.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25BAAF-DEB8-77D2-D526-880AB1BA6998}"/>
              </a:ext>
            </a:extLst>
          </p:cNvPr>
          <p:cNvSpPr txBox="1"/>
          <p:nvPr/>
        </p:nvSpPr>
        <p:spPr>
          <a:xfrm>
            <a:off x="10836000" y="705160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2400" b="1">
                <a:solidFill>
                  <a:srgbClr val="172537"/>
                </a:solidFill>
                <a:latin typeface="Segoe UI Semibold" panose="020B0702040204020203" pitchFamily="34" charset="0"/>
              </a:rPr>
              <a:t>Research Objective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FDBEDB-1FE6-ED3F-0D1A-984125CCE07F}"/>
              </a:ext>
            </a:extLst>
          </p:cNvPr>
          <p:cNvSpPr txBox="1"/>
          <p:nvPr/>
        </p:nvSpPr>
        <p:spPr>
          <a:xfrm>
            <a:off x="10836000" y="740720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>
                <a:solidFill>
                  <a:srgbClr val="3B4E64"/>
                </a:solidFill>
                <a:latin typeface="Segoe UI" panose="020B0502040204020203" pitchFamily="34" charset="0"/>
              </a:rPr>
              <a:t>This work develops and tests a whole-facility framework with two contributions. First, it computes a least-cost day-ahead operating baseline by co-optimising IT scheduling, UPS operation, and cooling/TES dispatch. Second, it quantifies duration-certified flexibility: for any requested power deviation and start time, it computes the maximum feasible provision duration.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EB721B-493E-43F8-ACA7-C5A1A032ADE7}"/>
              </a:ext>
            </a:extLst>
          </p:cNvPr>
          <p:cNvSpPr txBox="1"/>
          <p:nvPr/>
        </p:nvSpPr>
        <p:spPr>
          <a:xfrm>
            <a:off x="10836000" y="880420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2400" b="1">
                <a:solidFill>
                  <a:srgbClr val="172537"/>
                </a:solidFill>
                <a:latin typeface="Segoe UI Semibold" panose="020B0702040204020203" pitchFamily="34" charset="0"/>
              </a:rPr>
              <a:t>Integrated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C035D5-E48C-6012-E66E-0E2822621992}"/>
              </a:ext>
            </a:extLst>
          </p:cNvPr>
          <p:cNvSpPr txBox="1"/>
          <p:nvPr/>
        </p:nvSpPr>
        <p:spPr>
          <a:xfrm>
            <a:off x="10836000" y="915980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1700" dirty="0">
                <a:solidFill>
                  <a:srgbClr val="3B4E64"/>
                </a:solidFill>
                <a:latin typeface="Segoe UI" panose="020B0502040204020203" pitchFamily="34" charset="0"/>
              </a:rPr>
              <a:t>Flexibility is represented through three coupled subsystems. IT flexibility comes from shifting delay-tolerant workload while preserving constant computational demand and respecting tranche delay limits. UPS flexibility comes from bounded charge/discharge power, state-of-charge limits, and non-simultaneous charging/discharging constraints. Cooling flexibility comes from chiller modulation, TES charge/discharge, and thermodynamic temperature dynamics for inlet air, cold aisle, racks, IT components, and hot aisle. The model uses 15-minute time steps over a 24-hour horizon plus a 3-hour extension window. A 1 MW IT facility is analysed with UPS capacity of 600 kWh and TES capacity of 1000 kWh, using day-ahead electricity prices.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4829EF-E5BD-5753-4DDB-26A4046D7867}"/>
              </a:ext>
            </a:extLst>
          </p:cNvPr>
          <p:cNvSpPr/>
          <p:nvPr/>
        </p:nvSpPr>
        <p:spPr>
          <a:xfrm>
            <a:off x="539251" y="11560440"/>
            <a:ext cx="9756000" cy="482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CEA"/>
            </a:solidFill>
          </a:ln>
          <a:effectLst>
            <a:outerShdw blurRad="30480" dist="21552" dir="270002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AD8A3C-A659-E04E-D978-84FEA0D35CE7}"/>
              </a:ext>
            </a:extLst>
          </p:cNvPr>
          <p:cNvSpPr txBox="1"/>
          <p:nvPr/>
        </p:nvSpPr>
        <p:spPr>
          <a:xfrm>
            <a:off x="792000" y="1590384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i="1" dirty="0">
                <a:solidFill>
                  <a:srgbClr val="57677C"/>
                </a:solidFill>
                <a:latin typeface="Segoe UI" panose="020B0502040204020203" pitchFamily="34" charset="0"/>
              </a:rPr>
              <a:t>F2. Optimised demand tracks price: grid draw increases off-peak and drops during peak-price hours.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8CF3C2-676E-F737-0E45-7BF17FDB3791}"/>
              </a:ext>
            </a:extLst>
          </p:cNvPr>
          <p:cNvSpPr/>
          <p:nvPr/>
        </p:nvSpPr>
        <p:spPr>
          <a:xfrm>
            <a:off x="10710250" y="11566960"/>
            <a:ext cx="9755999" cy="482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CEDCEA"/>
            </a:solidFill>
          </a:ln>
          <a:effectLst>
            <a:outerShdw blurRad="30480" dist="21552" dir="270002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3C4D36A-299F-DD54-A8FA-F4A2906D364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6875" y="11687440"/>
            <a:ext cx="7334250" cy="4191000"/>
          </a:xfrm>
          <a:prstGeom prst="rect">
            <a:avLst/>
          </a:prstGeom>
          <a:ln w="12700">
            <a:solidFill>
              <a:srgbClr val="B4C9DC"/>
            </a:solidFill>
          </a:ln>
          <a:effectLst>
            <a:outerShdw blurRad="25400" dist="17961" dir="2699987" rotWithShape="0">
              <a:scrgbClr r="0" g="0" b="0">
                <a:alpha val="10000"/>
              </a:scrgbClr>
            </a:outerShd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1C19BC7-0DB8-07D6-49FC-2B8FB41091FF}"/>
              </a:ext>
            </a:extLst>
          </p:cNvPr>
          <p:cNvSpPr txBox="1"/>
          <p:nvPr/>
        </p:nvSpPr>
        <p:spPr>
          <a:xfrm>
            <a:off x="10962999" y="16041403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i="1" dirty="0">
                <a:solidFill>
                  <a:srgbClr val="57677C"/>
                </a:solidFill>
                <a:latin typeface="Segoe UI" panose="020B0502040204020203" pitchFamily="34" charset="0"/>
              </a:rPr>
              <a:t>F3. Stacked dispatch shows IT, CRAC, UPS, and TES coordination delivering cost-minimising operation.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CE858C-EEDF-B2A2-EBB2-09BE4337E3C9}"/>
              </a:ext>
            </a:extLst>
          </p:cNvPr>
          <p:cNvSpPr txBox="1"/>
          <p:nvPr/>
        </p:nvSpPr>
        <p:spPr>
          <a:xfrm>
            <a:off x="792000" y="1651344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3200" b="1" dirty="0">
                <a:solidFill>
                  <a:srgbClr val="172537"/>
                </a:solidFill>
                <a:latin typeface="Segoe UI Semibold" panose="020B0702040204020203" pitchFamily="34" charset="0"/>
              </a:rPr>
              <a:t>Scenario Design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C49866-7B89-7617-5001-6DE15995695D}"/>
              </a:ext>
            </a:extLst>
          </p:cNvPr>
          <p:cNvSpPr txBox="1"/>
          <p:nvPr/>
        </p:nvSpPr>
        <p:spPr>
          <a:xfrm>
            <a:off x="792000" y="1702144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2100" dirty="0">
                <a:solidFill>
                  <a:srgbClr val="3B4E64"/>
                </a:solidFill>
                <a:latin typeface="Segoe UI" panose="020B0502040204020203" pitchFamily="34" charset="0"/>
              </a:rPr>
              <a:t>Scenario 1 establishes a no-flexibility base-case cost benchmark. Scenario 2 co-optimises workload, UPS, and cooling/TES to minimise operating cost under physical constraints. Scenario 3 performs a duration-aware flexibility test on top of the Scenario 2 baseline. For each start time t0 and requested deviation </a:t>
            </a:r>
            <a:r>
              <a:rPr lang="en-GB" sz="2100" dirty="0" err="1">
                <a:solidFill>
                  <a:srgbClr val="3B4E64"/>
                </a:solidFill>
                <a:latin typeface="Segoe UI" panose="020B0502040204020203" pitchFamily="34" charset="0"/>
              </a:rPr>
              <a:t>DeltaP</a:t>
            </a:r>
            <a:r>
              <a:rPr lang="en-GB" sz="2100" dirty="0">
                <a:solidFill>
                  <a:srgbClr val="3B4E64"/>
                </a:solidFill>
                <a:latin typeface="Segoe UI" panose="020B0502040204020203" pitchFamily="34" charset="0"/>
              </a:rPr>
              <a:t>, the model searches for the maximum feasible duration tau while enforcing thermal and operational constraints and a 12-slot recovery window so post-event operation remains feasible.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8E3A51-9814-6A6D-7C77-16B4F510D8CC}"/>
              </a:ext>
            </a:extLst>
          </p:cNvPr>
          <p:cNvSpPr txBox="1"/>
          <p:nvPr/>
        </p:nvSpPr>
        <p:spPr>
          <a:xfrm>
            <a:off x="10836000" y="1651344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3200" b="1">
                <a:solidFill>
                  <a:srgbClr val="172537"/>
                </a:solidFill>
                <a:latin typeface="Segoe UI Semibold" panose="020B0702040204020203" pitchFamily="34" charset="0"/>
              </a:rPr>
              <a:t>Key Results (Cost and Dispatch)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064B0F-5086-99C2-8F39-8E5EDDEA539A}"/>
              </a:ext>
            </a:extLst>
          </p:cNvPr>
          <p:cNvSpPr txBox="1"/>
          <p:nvPr/>
        </p:nvSpPr>
        <p:spPr>
          <a:xfrm>
            <a:off x="10836000" y="17021440"/>
            <a:ext cx="9756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2100">
                <a:solidFill>
                  <a:srgbClr val="3B4E64"/>
                </a:solidFill>
                <a:latin typeface="Segoe UI" panose="020B0502040204020203" pitchFamily="34" charset="0"/>
              </a:rPr>
              <a:t>Cost optimisation reduces daily operating cost from £1,659.54 to £1,493.19, delivering £166.34 savings (10.02%) without additional hardware investment. During low-price periods, the site increases grid draw to pre-charge TES/UPS and process more IT load; during peak-price periods, it reduces grid draw through deferred IT execution, UPS discharge, and cooling reallocation.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3DA1CB-CAEC-99F2-7A8D-8FCB0605198C}"/>
              </a:ext>
            </a:extLst>
          </p:cNvPr>
          <p:cNvSpPr txBox="1"/>
          <p:nvPr/>
        </p:nvSpPr>
        <p:spPr>
          <a:xfrm>
            <a:off x="639969" y="11581914"/>
            <a:ext cx="8380265" cy="496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b="1" dirty="0">
                <a:solidFill>
                  <a:srgbClr val="172537"/>
                </a:solidFill>
                <a:latin typeface="Segoe UI Semibold" panose="020B0702040204020203" pitchFamily="34" charset="0"/>
              </a:rPr>
              <a:t>£1,659.54 -&gt; £1,493.19, Savings: £166.34 (10.02%)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1FFB4E-C3D4-697F-EAF1-2022085B6967}"/>
              </a:ext>
            </a:extLst>
          </p:cNvPr>
          <p:cNvSpPr/>
          <p:nvPr/>
        </p:nvSpPr>
        <p:spPr>
          <a:xfrm>
            <a:off x="496931" y="19481543"/>
            <a:ext cx="19800000" cy="6058241"/>
          </a:xfrm>
          <a:prstGeom prst="rect">
            <a:avLst/>
          </a:prstGeom>
          <a:solidFill>
            <a:srgbClr val="FFFFFF"/>
          </a:solidFill>
          <a:ln w="15240">
            <a:solidFill>
              <a:srgbClr val="CEDCEA"/>
            </a:solidFill>
          </a:ln>
          <a:effectLst>
            <a:outerShdw blurRad="30480" dist="21552" dir="2700022" rotWithShape="0">
              <a:scrgbClr r="0" g="0" b="0">
                <a:alpha val="10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B5F5B2E0-9FC4-DFDE-D275-02E26CB3D25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0508" y="19472242"/>
            <a:ext cx="9344301" cy="5152733"/>
          </a:xfrm>
          <a:prstGeom prst="rect">
            <a:avLst/>
          </a:prstGeom>
          <a:ln w="12700">
            <a:solidFill>
              <a:srgbClr val="B4C9DC"/>
            </a:solidFill>
          </a:ln>
          <a:effectLst>
            <a:outerShdw blurRad="25400" dist="17961" dir="2699987" rotWithShape="0">
              <a:scrgbClr r="0" g="0" b="0">
                <a:alpha val="10000"/>
              </a:scrgbClr>
            </a:outerShd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2A27661-D09A-BAC7-7314-83B1F8444D58}"/>
              </a:ext>
            </a:extLst>
          </p:cNvPr>
          <p:cNvSpPr txBox="1"/>
          <p:nvPr/>
        </p:nvSpPr>
        <p:spPr>
          <a:xfrm>
            <a:off x="10171296" y="24813804"/>
            <a:ext cx="10337354" cy="462961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50"/>
              </a:spcAft>
            </a:pPr>
            <a:r>
              <a:rPr lang="en-GB" i="1" dirty="0">
                <a:solidFill>
                  <a:srgbClr val="57677C"/>
                </a:solidFill>
                <a:latin typeface="Segoe UI" panose="020B0502040204020203" pitchFamily="34" charset="0"/>
              </a:rPr>
              <a:t>F4. Duration-certified flexibility envelope: maximum feasible duration (tau) varies strongly</a:t>
            </a:r>
          </a:p>
          <a:p>
            <a:pPr algn="ctr">
              <a:lnSpc>
                <a:spcPct val="110000"/>
              </a:lnSpc>
              <a:spcAft>
                <a:spcPts val="150"/>
              </a:spcAft>
            </a:pPr>
            <a:r>
              <a:rPr lang="en-GB" i="1" dirty="0">
                <a:solidFill>
                  <a:srgbClr val="57677C"/>
                </a:solidFill>
                <a:latin typeface="Segoe UI" panose="020B0502040204020203" pitchFamily="34" charset="0"/>
              </a:rPr>
              <a:t>with start time and requested +/-</a:t>
            </a:r>
            <a:r>
              <a:rPr lang="en-GB" i="1" dirty="0" err="1">
                <a:solidFill>
                  <a:srgbClr val="57677C"/>
                </a:solidFill>
                <a:latin typeface="Segoe UI" panose="020B0502040204020203" pitchFamily="34" charset="0"/>
              </a:rPr>
              <a:t>DeltaP</a:t>
            </a:r>
            <a:r>
              <a:rPr lang="en-GB" i="1" dirty="0">
                <a:solidFill>
                  <a:srgbClr val="57677C"/>
                </a:solidFill>
                <a:latin typeface="Segoe UI" panose="020B0502040204020203" pitchFamily="34" charset="0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4CC880C-02DE-F07D-81C7-5C2B35E4A6AC}"/>
              </a:ext>
            </a:extLst>
          </p:cNvPr>
          <p:cNvSpPr txBox="1"/>
          <p:nvPr/>
        </p:nvSpPr>
        <p:spPr>
          <a:xfrm>
            <a:off x="377824" y="25808306"/>
            <a:ext cx="131040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3000" b="1" dirty="0">
                <a:solidFill>
                  <a:srgbClr val="172537"/>
                </a:solidFill>
                <a:latin typeface="Segoe UI Semibold" panose="020B0702040204020203" pitchFamily="34" charset="0"/>
              </a:rPr>
              <a:t>Key Results (Flexibility Asymmetry)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1AB866-75A3-B220-04A2-F3B8D054EBE4}"/>
              </a:ext>
            </a:extLst>
          </p:cNvPr>
          <p:cNvSpPr txBox="1"/>
          <p:nvPr/>
        </p:nvSpPr>
        <p:spPr>
          <a:xfrm>
            <a:off x="377824" y="26467852"/>
            <a:ext cx="10498780" cy="3046148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1900" dirty="0">
                <a:solidFill>
                  <a:srgbClr val="3B4E64"/>
                </a:solidFill>
                <a:latin typeface="Segoe UI" panose="020B0502040204020203" pitchFamily="34" charset="0"/>
              </a:rPr>
              <a:t>The flexibility heatmap reveals strong temporal structure and clear asymmetry. Upward flexibility (negative </a:t>
            </a:r>
            <a:r>
              <a:rPr lang="en-GB" sz="1900" dirty="0" err="1">
                <a:solidFill>
                  <a:srgbClr val="3B4E64"/>
                </a:solidFill>
                <a:latin typeface="Segoe UI" panose="020B0502040204020203" pitchFamily="34" charset="0"/>
              </a:rPr>
              <a:t>DeltaP</a:t>
            </a:r>
            <a:r>
              <a:rPr lang="en-GB" sz="1900" dirty="0">
                <a:solidFill>
                  <a:srgbClr val="3B4E64"/>
                </a:solidFill>
                <a:latin typeface="Segoe UI" panose="020B0502040204020203" pitchFamily="34" charset="0"/>
              </a:rPr>
              <a:t>) is strongest when IT deferral headroom is available and is reinforced by cooling reduction. Downward flexibility (positive </a:t>
            </a:r>
            <a:r>
              <a:rPr lang="en-GB" sz="1900" dirty="0" err="1">
                <a:solidFill>
                  <a:srgbClr val="3B4E64"/>
                </a:solidFill>
                <a:latin typeface="Segoe UI" panose="020B0502040204020203" pitchFamily="34" charset="0"/>
              </a:rPr>
              <a:t>DeltaP</a:t>
            </a:r>
            <a:r>
              <a:rPr lang="en-GB" sz="1900" dirty="0">
                <a:solidFill>
                  <a:srgbClr val="3B4E64"/>
                </a:solidFill>
                <a:latin typeface="Segoe UI" panose="020B0502040204020203" pitchFamily="34" charset="0"/>
              </a:rPr>
              <a:t>) is concentrated later in the day and relies more on CRAC/TES and UPS charging because advancing IT workloads is constrained without pre-conditioning. A representative contrast is -100 kW upward flexibility for 6.8 h at 00:15 versus 0.2 h at 17:30. Asset-level panels show coordinated internal counter-movements that preserve the required net response.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8496D3-A397-D632-0A76-79052E7E3D01}"/>
              </a:ext>
            </a:extLst>
          </p:cNvPr>
          <p:cNvSpPr txBox="1"/>
          <p:nvPr/>
        </p:nvSpPr>
        <p:spPr>
          <a:xfrm>
            <a:off x="539250" y="24805465"/>
            <a:ext cx="10337354" cy="537993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 algn="ctr">
              <a:lnSpc>
                <a:spcPct val="110000"/>
              </a:lnSpc>
              <a:spcAft>
                <a:spcPts val="150"/>
              </a:spcAft>
            </a:pPr>
            <a:r>
              <a:rPr lang="en-GB" i="1" dirty="0">
                <a:solidFill>
                  <a:srgbClr val="57677C"/>
                </a:solidFill>
                <a:latin typeface="Segoe UI" panose="020B0502040204020203" pitchFamily="34" charset="0"/>
              </a:rPr>
              <a:t>F5. Component-level decomposition highlights asymmetry between upward (left) and downward (right) flexibility provision.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5D8F0F-C083-504B-A98B-B3F5CAE421A3}"/>
              </a:ext>
            </a:extLst>
          </p:cNvPr>
          <p:cNvSpPr txBox="1"/>
          <p:nvPr/>
        </p:nvSpPr>
        <p:spPr>
          <a:xfrm>
            <a:off x="12611600" y="25787145"/>
            <a:ext cx="62048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2000" b="1" dirty="0">
                <a:solidFill>
                  <a:srgbClr val="172537"/>
                </a:solidFill>
                <a:latin typeface="Segoe UI Semibold" panose="020B0702040204020203" pitchFamily="34" charset="0"/>
              </a:rPr>
              <a:t>Practical Implications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927634-F96E-E330-2F80-160E0463C60F}"/>
              </a:ext>
            </a:extLst>
          </p:cNvPr>
          <p:cNvSpPr txBox="1"/>
          <p:nvPr/>
        </p:nvSpPr>
        <p:spPr>
          <a:xfrm>
            <a:off x="12611600" y="26240106"/>
            <a:ext cx="62048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1400" dirty="0">
                <a:solidFill>
                  <a:srgbClr val="3B4E64"/>
                </a:solidFill>
                <a:latin typeface="Segoe UI" panose="020B0502040204020203" pitchFamily="34" charset="0"/>
              </a:rPr>
              <a:t>The framework turns abstract flexibility potential into market-relevant, duration-certified products for reserve, balancing, and price-responsive demand. Operators can optimise cost first, then stack flexibility services using residual capability. System planners gain time- and magnitude-specific estimates of dependable demand-side response from data-centre assets. Because duration is certified rather than assumed, outputs can be mapped directly to products with explicit start-time and magnitude commitments.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069BE02-E5CF-3322-3D53-6A159DD06ED4}"/>
              </a:ext>
            </a:extLst>
          </p:cNvPr>
          <p:cNvSpPr txBox="1"/>
          <p:nvPr/>
        </p:nvSpPr>
        <p:spPr>
          <a:xfrm>
            <a:off x="12561725" y="27925014"/>
            <a:ext cx="62048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1600" b="1" dirty="0">
                <a:solidFill>
                  <a:srgbClr val="172537"/>
                </a:solidFill>
                <a:latin typeface="Segoe UI Semibold" panose="020B0702040204020203" pitchFamily="34" charset="0"/>
              </a:rPr>
              <a:t>Limitations and Next Work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C696A5-9746-A620-CEFB-995E4C5CEE9E}"/>
              </a:ext>
            </a:extLst>
          </p:cNvPr>
          <p:cNvSpPr txBox="1"/>
          <p:nvPr/>
        </p:nvSpPr>
        <p:spPr>
          <a:xfrm>
            <a:off x="12561725" y="28265555"/>
            <a:ext cx="49094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1300" dirty="0">
                <a:solidFill>
                  <a:srgbClr val="3B4E64"/>
                </a:solidFill>
                <a:latin typeface="Segoe UI" panose="020B0502040204020203" pitchFamily="34" charset="0"/>
              </a:rPr>
              <a:t>Future work: explicit revenue stacking, pre-conditioning windows for more symmetric downward IT participation, and multi-site portfolio aggregation.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84E39B12-31CF-854B-E224-9CE490D03D1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8033" y="28878448"/>
            <a:ext cx="838200" cy="838200"/>
          </a:xfrm>
          <a:prstGeom prst="rect">
            <a:avLst/>
          </a:prstGeom>
          <a:ln w="12700">
            <a:solidFill>
              <a:srgbClr val="B4C9DC"/>
            </a:solidFill>
          </a:ln>
          <a:effectLst>
            <a:outerShdw blurRad="25400" dist="17961" dir="2699987" rotWithShape="0">
              <a:scrgbClr r="0" g="0" b="0">
                <a:alpha val="10000"/>
              </a:scrgbClr>
            </a:outerShdw>
          </a:effectLst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E09057E-1E99-CD71-96B8-BB782F94BB82}"/>
              </a:ext>
            </a:extLst>
          </p:cNvPr>
          <p:cNvSpPr txBox="1"/>
          <p:nvPr/>
        </p:nvSpPr>
        <p:spPr>
          <a:xfrm>
            <a:off x="12561725" y="29041963"/>
            <a:ext cx="5341200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1000" dirty="0">
                <a:solidFill>
                  <a:srgbClr val="57677C"/>
                </a:solidFill>
                <a:latin typeface="Segoe UI" panose="020B0502040204020203" pitchFamily="34" charset="0"/>
              </a:rPr>
              <a:t>QR: full paper PDF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AB5EDD-A1DD-48C0-82CB-BF95590CF0EB}"/>
              </a:ext>
            </a:extLst>
          </p:cNvPr>
          <p:cNvSpPr txBox="1"/>
          <p:nvPr/>
        </p:nvSpPr>
        <p:spPr>
          <a:xfrm>
            <a:off x="792000" y="30022000"/>
            <a:ext cx="19800001" cy="369332"/>
          </a:xfrm>
          <a:prstGeom prst="rect">
            <a:avLst/>
          </a:prstGeom>
          <a:noFill/>
        </p:spPr>
        <p:txBody>
          <a:bodyPr vert="horz" wrap="square" lIns="63500" tIns="38100" rIns="63500" bIns="25400" rtlCol="0">
            <a:noAutofit/>
          </a:bodyPr>
          <a:lstStyle/>
          <a:p>
            <a:pPr>
              <a:lnSpc>
                <a:spcPct val="110000"/>
              </a:lnSpc>
              <a:spcAft>
                <a:spcPts val="150"/>
              </a:spcAft>
            </a:pPr>
            <a:r>
              <a:rPr lang="en-GB" sz="1000">
                <a:solidFill>
                  <a:srgbClr val="57677C"/>
                </a:solidFill>
                <a:latin typeface="Segoe UI" panose="020B0502040204020203" pitchFamily="34" charset="0"/>
              </a:rPr>
              <a:t>References: IEA (2025) Energy and AI; ASHRAE thermal guidance; Takci et al. (2025).</a:t>
            </a:r>
          </a:p>
        </p:txBody>
      </p:sp>
      <p:pic>
        <p:nvPicPr>
          <p:cNvPr id="18" name="Picture 1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3E19D2E-A4C3-E9C8-7E35-36DE2C7005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5" t="7932" b="6407"/>
          <a:stretch>
            <a:fillRect/>
          </a:stretch>
        </p:blipFill>
        <p:spPr>
          <a:xfrm>
            <a:off x="539250" y="11871090"/>
            <a:ext cx="8819363" cy="3928802"/>
          </a:xfrm>
          <a:prstGeom prst="rect">
            <a:avLst/>
          </a:prstGeom>
          <a:ln w="12700">
            <a:solidFill>
              <a:srgbClr val="B4C9DC"/>
            </a:solidFill>
          </a:ln>
          <a:effectLst>
            <a:outerShdw blurRad="25400" dist="17961" dir="2699987" rotWithShape="0">
              <a:scrgbClr r="0" g="0" b="0">
                <a:alpha val="10000"/>
              </a:scrgbClr>
            </a:outerShdw>
          </a:effectLst>
        </p:spPr>
      </p:pic>
      <p:pic>
        <p:nvPicPr>
          <p:cNvPr id="45" name="Picture 4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0CAFF1F-DEDC-EE7C-0D67-99636C36B9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3" r="3863" b="8800"/>
          <a:stretch>
            <a:fillRect/>
          </a:stretch>
        </p:blipFill>
        <p:spPr>
          <a:xfrm>
            <a:off x="5627713" y="19437166"/>
            <a:ext cx="5152795" cy="5071838"/>
          </a:xfrm>
          <a:prstGeom prst="rect">
            <a:avLst/>
          </a:prstGeom>
          <a:ln w="12700">
            <a:solidFill>
              <a:srgbClr val="B4C9DC"/>
            </a:solidFill>
          </a:ln>
          <a:effectLst>
            <a:outerShdw blurRad="25400" dist="17961" dir="2699987" rotWithShape="0">
              <a:scrgbClr r="0" g="0" b="0">
                <a:alpha val="10000"/>
              </a:scrgbClr>
            </a:outerShdw>
          </a:effectLst>
        </p:spPr>
      </p:pic>
      <p:pic>
        <p:nvPicPr>
          <p:cNvPr id="32" name="Picture 31" descr="A screenshot of a graph&#10;&#10;AI-generated content may be incorrect.">
            <a:extLst>
              <a:ext uri="{FF2B5EF4-FFF2-40B4-BE49-F238E27FC236}">
                <a16:creationId xmlns:a16="http://schemas.microsoft.com/office/drawing/2014/main" id="{0B84B362-5F8A-8AD1-A73C-72A6BD722B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2" r="2288" b="8190"/>
          <a:stretch>
            <a:fillRect/>
          </a:stretch>
        </p:blipFill>
        <p:spPr>
          <a:xfrm>
            <a:off x="539250" y="19552075"/>
            <a:ext cx="5294851" cy="5121855"/>
          </a:xfrm>
          <a:prstGeom prst="rect">
            <a:avLst/>
          </a:prstGeom>
          <a:ln w="12700">
            <a:solidFill>
              <a:srgbClr val="B4C9DC"/>
            </a:solidFill>
          </a:ln>
          <a:effectLst>
            <a:outerShdw blurRad="25400" dist="17961" dir="2699987" rotWithShape="0">
              <a:scrgbClr r="0" g="0" b="0">
                <a:alpha val="10000"/>
              </a:sc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6103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1050A85-F194-4C51-BF65-5326F319AADF}">
  <we:reference id="wa200010001" version="1.0.0.0" store="en-GB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786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day</dc:creator>
  <cp:lastModifiedBy>jamie day</cp:lastModifiedBy>
  <cp:revision>4</cp:revision>
  <dcterms:created xsi:type="dcterms:W3CDTF">2026-02-16T10:49:07Z</dcterms:created>
  <dcterms:modified xsi:type="dcterms:W3CDTF">2026-02-16T12:10:19Z</dcterms:modified>
</cp:coreProperties>
</file>